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25"/>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A Test Strategy Presentation" id="{869295E9-BA1C-4E88-BFAD-771CFD00AC1F}">
          <p14:sldIdLst>
            <p14:sldId id="2561"/>
          </p14:sldIdLst>
        </p14:section>
        <p14:section name="QA Strategy — WHY" id="{D322BF60-55B1-4AA7-B591-7DF56310A56B}">
          <p14:sldIdLst>
            <p14:sldId id="2562"/>
            <p14:sldId id="2563"/>
          </p14:sldIdLst>
        </p14:section>
        <p14:section name="Test Approach (Principles &amp; Levels)" id="{154519A5-F683-4202-BA7B-F790C020EEDE}">
          <p14:sldIdLst>
            <p14:sldId id="2564"/>
            <p14:sldId id="2565"/>
            <p14:sldId id="2566"/>
          </p14:sldIdLst>
        </p14:section>
        <p14:section name="Boundaries &amp; Scope" id="{04CBB951-9238-4BC2-96B5-DBE661F44220}">
          <p14:sldIdLst>
            <p14:sldId id="2567"/>
            <p14:sldId id="2568"/>
          </p14:sldIdLst>
        </p14:section>
        <p14:section name="Test Lifecycle" id="{865A45CE-16BC-4505-853C-C4CC3F1716F5}">
          <p14:sldIdLst>
            <p14:sldId id="2569"/>
            <p14:sldId id="2570"/>
          </p14:sldIdLst>
        </p14:section>
        <p14:section name="CI/CD Testing Flow" id="{E00821FF-334E-4721-A70B-C17BF00A2B4B}">
          <p14:sldIdLst>
            <p14:sldId id="2571"/>
            <p14:sldId id="2572"/>
          </p14:sldIdLst>
        </p14:section>
        <p14:section name="Delivery Approach" id="{6452B073-CB3B-4413-A66A-76814B33E40F}">
          <p14:sldIdLst>
            <p14:sldId id="2573"/>
            <p14:sldId id="2574"/>
          </p14:sldIdLst>
        </p14:section>
        <p14:section name="Bug Management" id="{0B629EF9-8B69-462D-BCAB-DC7735C45D4A}">
          <p14:sldIdLst>
            <p14:sldId id="2575"/>
            <p14:sldId id="2576"/>
          </p14:sldIdLst>
        </p14:section>
        <p14:section name="Definition of Done" id="{E452581C-55EC-475A-AAB4-5DC5F526DC1C}">
          <p14:sldIdLst>
            <p14:sldId id="2577"/>
            <p14:sldId id="2578"/>
          </p14:sldIdLst>
        </p14:section>
        <p14:section name="Metrics" id="{C5E94C23-2D88-45DF-892C-6E12028904AA}">
          <p14:sldIdLst>
            <p14:sldId id="2579"/>
            <p14:sldId id="25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60484D-B2C3-A29E-4C1A-E2F31F149C66}" v="21" dt="2026-03-06T14:01:45.354"/>
    <p1510:client id="{6FCA5EDE-AF24-4522-9747-73C150297337}" v="21" dt="2026-03-06T13:59:22.2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FCA5EDE-AF24-4522-9747-73C150297337}"/>
    <pc:docChg chg="addSld delSld modSld addSection">
      <pc:chgData name="" userId="" providerId="" clId="Web-{6FCA5EDE-AF24-4522-9747-73C150297337}" dt="2026-03-06T13:59:22.224" v="21" actId="34807"/>
      <pc:docMkLst>
        <pc:docMk/>
      </pc:docMkLst>
      <pc:sldChg chg="del">
        <pc:chgData name="" userId="" providerId="" clId="Web-{6FCA5EDE-AF24-4522-9747-73C150297337}" dt="2026-03-06T13:59:22.115" v="0" actId="34807"/>
        <pc:sldMkLst>
          <pc:docMk/>
          <pc:sldMk cId="2115915397" sldId="256"/>
        </pc:sldMkLst>
      </pc:sldChg>
      <pc:sldChg chg="modSp add mod addAnim chgLayout">
        <pc:chgData name="" userId="" providerId="" clId="Web-{6FCA5EDE-AF24-4522-9747-73C150297337}" dt="2026-03-06T13:59:22.209" v="4" actId="34807"/>
        <pc:sldMkLst>
          <pc:docMk/>
          <pc:sldMk cId="39836136" sldId="2561"/>
        </pc:sldMkLst>
        <pc:spChg chg="mod">
          <ac:chgData name="" userId="" providerId="" clId="Web-{6FCA5EDE-AF24-4522-9747-73C150297337}" dt="2026-03-06T13:59:22.209" v="1" actId="34807"/>
          <ac:spMkLst>
            <pc:docMk/>
            <pc:sldMk cId="39836136" sldId="2561"/>
            <ac:spMk id="2" creationId="{B9CEA8E0-13BD-0C67-42F9-D4EB76BDBE95}"/>
          </ac:spMkLst>
        </pc:spChg>
        <pc:spChg chg="mod">
          <ac:chgData name="" userId="" providerId="" clId="Web-{6FCA5EDE-AF24-4522-9747-73C150297337}" dt="2026-03-06T13:59:22.209" v="1" actId="34807"/>
          <ac:spMkLst>
            <pc:docMk/>
            <pc:sldMk cId="39836136" sldId="2561"/>
            <ac:spMk id="3" creationId="{75A393C2-98D6-AFA5-27D8-62A1C9E962F6}"/>
          </ac:spMkLst>
        </pc:spChg>
      </pc:sldChg>
      <pc:sldChg chg="modSp add mod modTransition addAnim chgLayout">
        <pc:chgData name="" userId="" providerId="" clId="Web-{6FCA5EDE-AF24-4522-9747-73C150297337}" dt="2026-03-06T13:59:22.209" v="5" actId="34807"/>
        <pc:sldMkLst>
          <pc:docMk/>
          <pc:sldMk cId="1274228079" sldId="2562"/>
        </pc:sldMkLst>
        <pc:spChg chg="mod">
          <ac:chgData name="" userId="" providerId="" clId="Web-{6FCA5EDE-AF24-4522-9747-73C150297337}" dt="2026-03-06T13:59:22.209" v="1" actId="34807"/>
          <ac:spMkLst>
            <pc:docMk/>
            <pc:sldMk cId="1274228079" sldId="2562"/>
            <ac:spMk id="2" creationId="{B022AEF5-A152-8B71-DC75-DFB1D462F1B6}"/>
          </ac:spMkLst>
        </pc:spChg>
      </pc:sldChg>
      <pc:sldChg chg="modSp add mod modTransition modClrScheme addAnim chgLayout">
        <pc:chgData name="" userId="" providerId="" clId="Web-{6FCA5EDE-AF24-4522-9747-73C150297337}" dt="2026-03-06T13:59:22.209" v="6" actId="34807"/>
        <pc:sldMkLst>
          <pc:docMk/>
          <pc:sldMk cId="4199335270" sldId="2563"/>
        </pc:sldMkLst>
        <pc:spChg chg="mod">
          <ac:chgData name="" userId="" providerId="" clId="Web-{6FCA5EDE-AF24-4522-9747-73C150297337}" dt="2026-03-06T13:59:22.209" v="1" actId="34807"/>
          <ac:spMkLst>
            <pc:docMk/>
            <pc:sldMk cId="4199335270" sldId="2563"/>
            <ac:spMk id="2" creationId="{367B13AB-EEC3-9229-8B8A-C3CD992F923D}"/>
          </ac:spMkLst>
        </pc:spChg>
        <pc:spChg chg="mod">
          <ac:chgData name="" userId="" providerId="" clId="Web-{6FCA5EDE-AF24-4522-9747-73C150297337}" dt="2026-03-06T13:59:22.209" v="1" actId="34807"/>
          <ac:spMkLst>
            <pc:docMk/>
            <pc:sldMk cId="4199335270" sldId="2563"/>
            <ac:spMk id="4" creationId="{F0486BAC-41AE-12CA-6EFA-1A900CD99CD4}"/>
          </ac:spMkLst>
        </pc:spChg>
        <pc:picChg chg="mod">
          <ac:chgData name="" userId="" providerId="" clId="Web-{6FCA5EDE-AF24-4522-9747-73C150297337}" dt="2026-03-06T13:59:22.209" v="1" actId="34807"/>
          <ac:picMkLst>
            <pc:docMk/>
            <pc:sldMk cId="4199335270" sldId="2563"/>
            <ac:picMk id="5" creationId="{66FBBB59-DE28-4403-B02E-970EFE3E7422}"/>
          </ac:picMkLst>
        </pc:picChg>
      </pc:sldChg>
      <pc:sldChg chg="modSp add mod modTransition addAnim chgLayout">
        <pc:chgData name="" userId="" providerId="" clId="Web-{6FCA5EDE-AF24-4522-9747-73C150297337}" dt="2026-03-06T13:59:22.209" v="7" actId="34807"/>
        <pc:sldMkLst>
          <pc:docMk/>
          <pc:sldMk cId="926883596" sldId="2564"/>
        </pc:sldMkLst>
        <pc:spChg chg="mod">
          <ac:chgData name="" userId="" providerId="" clId="Web-{6FCA5EDE-AF24-4522-9747-73C150297337}" dt="2026-03-06T13:59:22.209" v="1" actId="34807"/>
          <ac:spMkLst>
            <pc:docMk/>
            <pc:sldMk cId="926883596" sldId="2564"/>
            <ac:spMk id="2" creationId="{0F8958B5-9F17-2BA9-3455-D4685E0F42A1}"/>
          </ac:spMkLst>
        </pc:spChg>
      </pc:sldChg>
      <pc:sldChg chg="modSp add mod modTransition modClrScheme addAnim chgLayout">
        <pc:chgData name="" userId="" providerId="" clId="Web-{6FCA5EDE-AF24-4522-9747-73C150297337}" dt="2026-03-06T13:59:22.209" v="8" actId="34807"/>
        <pc:sldMkLst>
          <pc:docMk/>
          <pc:sldMk cId="3905016394" sldId="2565"/>
        </pc:sldMkLst>
        <pc:spChg chg="mod">
          <ac:chgData name="" userId="" providerId="" clId="Web-{6FCA5EDE-AF24-4522-9747-73C150297337}" dt="2026-03-06T13:59:22.209" v="1" actId="34807"/>
          <ac:spMkLst>
            <pc:docMk/>
            <pc:sldMk cId="3905016394" sldId="2565"/>
            <ac:spMk id="2" creationId="{1E471F70-8E95-664F-512C-A3AB6E566DEA}"/>
          </ac:spMkLst>
        </pc:spChg>
        <pc:spChg chg="mod">
          <ac:chgData name="" userId="" providerId="" clId="Web-{6FCA5EDE-AF24-4522-9747-73C150297337}" dt="2026-03-06T13:59:22.209" v="1" actId="34807"/>
          <ac:spMkLst>
            <pc:docMk/>
            <pc:sldMk cId="3905016394" sldId="2565"/>
            <ac:spMk id="4" creationId="{9CDD9931-3072-CB8B-6A60-DC4F52064A46}"/>
          </ac:spMkLst>
        </pc:spChg>
        <pc:picChg chg="mod ord">
          <ac:chgData name="" userId="" providerId="" clId="Web-{6FCA5EDE-AF24-4522-9747-73C150297337}" dt="2026-03-06T13:59:22.209" v="1" actId="34807"/>
          <ac:picMkLst>
            <pc:docMk/>
            <pc:sldMk cId="3905016394" sldId="2565"/>
            <ac:picMk id="5" creationId="{DC5A6FA5-8B70-4DC1-BAFC-B46FB6D7EA6E}"/>
          </ac:picMkLst>
        </pc:picChg>
      </pc:sldChg>
      <pc:sldChg chg="modSp add mod modTransition modClrScheme addAnim chgLayout">
        <pc:chgData name="" userId="" providerId="" clId="Web-{6FCA5EDE-AF24-4522-9747-73C150297337}" dt="2026-03-06T13:59:22.209" v="9" actId="34807"/>
        <pc:sldMkLst>
          <pc:docMk/>
          <pc:sldMk cId="1653651834" sldId="2566"/>
        </pc:sldMkLst>
        <pc:spChg chg="mod">
          <ac:chgData name="" userId="" providerId="" clId="Web-{6FCA5EDE-AF24-4522-9747-73C150297337}" dt="2026-03-06T13:59:22.209" v="1" actId="34807"/>
          <ac:spMkLst>
            <pc:docMk/>
            <pc:sldMk cId="1653651834" sldId="2566"/>
            <ac:spMk id="2" creationId="{D34EC5E6-A41B-F6BC-4E86-CEA6645167B4}"/>
          </ac:spMkLst>
        </pc:spChg>
        <pc:spChg chg="mod">
          <ac:chgData name="" userId="" providerId="" clId="Web-{6FCA5EDE-AF24-4522-9747-73C150297337}" dt="2026-03-06T13:59:22.209" v="1" actId="34807"/>
          <ac:spMkLst>
            <pc:docMk/>
            <pc:sldMk cId="1653651834" sldId="2566"/>
            <ac:spMk id="4" creationId="{028FBB3E-83B4-4F19-3951-7477C3A908C4}"/>
          </ac:spMkLst>
        </pc:spChg>
        <pc:picChg chg="mod">
          <ac:chgData name="" userId="" providerId="" clId="Web-{6FCA5EDE-AF24-4522-9747-73C150297337}" dt="2026-03-06T13:59:22.209" v="1" actId="34807"/>
          <ac:picMkLst>
            <pc:docMk/>
            <pc:sldMk cId="1653651834" sldId="2566"/>
            <ac:picMk id="5" creationId="{2407EE3B-D317-43D5-B6C2-FE39FD8B5749}"/>
          </ac:picMkLst>
        </pc:picChg>
      </pc:sldChg>
      <pc:sldChg chg="modSp add mod modTransition addAnim chgLayout">
        <pc:chgData name="" userId="" providerId="" clId="Web-{6FCA5EDE-AF24-4522-9747-73C150297337}" dt="2026-03-06T13:59:22.209" v="10" actId="34807"/>
        <pc:sldMkLst>
          <pc:docMk/>
          <pc:sldMk cId="2591542303" sldId="2567"/>
        </pc:sldMkLst>
        <pc:spChg chg="mod">
          <ac:chgData name="" userId="" providerId="" clId="Web-{6FCA5EDE-AF24-4522-9747-73C150297337}" dt="2026-03-06T13:59:22.209" v="1" actId="34807"/>
          <ac:spMkLst>
            <pc:docMk/>
            <pc:sldMk cId="2591542303" sldId="2567"/>
            <ac:spMk id="2" creationId="{1C3A96AE-8CBF-AF5D-8E95-A7FAC82DA5DD}"/>
          </ac:spMkLst>
        </pc:spChg>
      </pc:sldChg>
      <pc:sldChg chg="modSp add mod modTransition modClrScheme chgLayout">
        <pc:chgData name="" userId="" providerId="" clId="Web-{6FCA5EDE-AF24-4522-9747-73C150297337}" dt="2026-03-06T13:59:22.209" v="1" actId="34807"/>
        <pc:sldMkLst>
          <pc:docMk/>
          <pc:sldMk cId="2688027313" sldId="2568"/>
        </pc:sldMkLst>
        <pc:spChg chg="mod">
          <ac:chgData name="" userId="" providerId="" clId="Web-{6FCA5EDE-AF24-4522-9747-73C150297337}" dt="2026-03-06T13:59:22.209" v="1" actId="34807"/>
          <ac:spMkLst>
            <pc:docMk/>
            <pc:sldMk cId="2688027313" sldId="2568"/>
            <ac:spMk id="2" creationId="{94122940-8AF3-67E1-5F0B-213F11FA6A17}"/>
          </ac:spMkLst>
        </pc:spChg>
        <pc:graphicFrameChg chg="mod">
          <ac:chgData name="" userId="" providerId="" clId="Web-{6FCA5EDE-AF24-4522-9747-73C150297337}" dt="2026-03-06T13:59:22.209" v="1" actId="34807"/>
          <ac:graphicFrameMkLst>
            <pc:docMk/>
            <pc:sldMk cId="2688027313" sldId="2568"/>
            <ac:graphicFrameMk id="5" creationId="{B8134856-5DBB-48E2-97FC-054FC04199E7}"/>
          </ac:graphicFrameMkLst>
        </pc:graphicFrameChg>
      </pc:sldChg>
      <pc:sldChg chg="modSp add mod modTransition addAnim chgLayout">
        <pc:chgData name="" userId="" providerId="" clId="Web-{6FCA5EDE-AF24-4522-9747-73C150297337}" dt="2026-03-06T13:59:22.209" v="11" actId="34807"/>
        <pc:sldMkLst>
          <pc:docMk/>
          <pc:sldMk cId="1403362515" sldId="2569"/>
        </pc:sldMkLst>
        <pc:spChg chg="mod">
          <ac:chgData name="" userId="" providerId="" clId="Web-{6FCA5EDE-AF24-4522-9747-73C150297337}" dt="2026-03-06T13:59:22.209" v="1" actId="34807"/>
          <ac:spMkLst>
            <pc:docMk/>
            <pc:sldMk cId="1403362515" sldId="2569"/>
            <ac:spMk id="2" creationId="{F9A16677-2F1A-3F64-2B9A-111C0453A15A}"/>
          </ac:spMkLst>
        </pc:spChg>
      </pc:sldChg>
      <pc:sldChg chg="modSp add mod modTransition modClrScheme addAnim chgLayout">
        <pc:chgData name="" userId="" providerId="" clId="Web-{6FCA5EDE-AF24-4522-9747-73C150297337}" dt="2026-03-06T13:59:22.209" v="12" actId="34807"/>
        <pc:sldMkLst>
          <pc:docMk/>
          <pc:sldMk cId="2514876108" sldId="2570"/>
        </pc:sldMkLst>
        <pc:spChg chg="mod">
          <ac:chgData name="" userId="" providerId="" clId="Web-{6FCA5EDE-AF24-4522-9747-73C150297337}" dt="2026-03-06T13:59:22.209" v="1" actId="34807"/>
          <ac:spMkLst>
            <pc:docMk/>
            <pc:sldMk cId="2514876108" sldId="2570"/>
            <ac:spMk id="2" creationId="{757AFD89-FAEC-5CA8-1742-3DAA5C0E0BE7}"/>
          </ac:spMkLst>
        </pc:spChg>
        <pc:spChg chg="mod">
          <ac:chgData name="" userId="" providerId="" clId="Web-{6FCA5EDE-AF24-4522-9747-73C150297337}" dt="2026-03-06T13:59:22.209" v="1" actId="34807"/>
          <ac:spMkLst>
            <pc:docMk/>
            <pc:sldMk cId="2514876108" sldId="2570"/>
            <ac:spMk id="4" creationId="{4FCC40D7-AE98-4132-8833-FA96E98CD9A2}"/>
          </ac:spMkLst>
        </pc:spChg>
        <pc:picChg chg="mod">
          <ac:chgData name="" userId="" providerId="" clId="Web-{6FCA5EDE-AF24-4522-9747-73C150297337}" dt="2026-03-06T13:59:22.209" v="1" actId="34807"/>
          <ac:picMkLst>
            <pc:docMk/>
            <pc:sldMk cId="2514876108" sldId="2570"/>
            <ac:picMk id="5" creationId="{2F63B283-85C1-4B8A-B4B2-5ECF38CB68B5}"/>
          </ac:picMkLst>
        </pc:picChg>
      </pc:sldChg>
      <pc:sldChg chg="modSp add mod modTransition addAnim chgLayout">
        <pc:chgData name="" userId="" providerId="" clId="Web-{6FCA5EDE-AF24-4522-9747-73C150297337}" dt="2026-03-06T13:59:22.209" v="13" actId="34807"/>
        <pc:sldMkLst>
          <pc:docMk/>
          <pc:sldMk cId="1881829228" sldId="2571"/>
        </pc:sldMkLst>
        <pc:spChg chg="mod">
          <ac:chgData name="" userId="" providerId="" clId="Web-{6FCA5EDE-AF24-4522-9747-73C150297337}" dt="2026-03-06T13:59:22.209" v="1" actId="34807"/>
          <ac:spMkLst>
            <pc:docMk/>
            <pc:sldMk cId="1881829228" sldId="2571"/>
            <ac:spMk id="2" creationId="{78526806-05EE-7DC1-B9D2-8F4F1698E63A}"/>
          </ac:spMkLst>
        </pc:spChg>
      </pc:sldChg>
      <pc:sldChg chg="modSp add mod modTransition modClrScheme addAnim chgLayout">
        <pc:chgData name="" userId="" providerId="" clId="Web-{6FCA5EDE-AF24-4522-9747-73C150297337}" dt="2026-03-06T13:59:22.209" v="14" actId="34807"/>
        <pc:sldMkLst>
          <pc:docMk/>
          <pc:sldMk cId="1150455618" sldId="2572"/>
        </pc:sldMkLst>
        <pc:spChg chg="mod">
          <ac:chgData name="" userId="" providerId="" clId="Web-{6FCA5EDE-AF24-4522-9747-73C150297337}" dt="2026-03-06T13:59:22.209" v="1" actId="34807"/>
          <ac:spMkLst>
            <pc:docMk/>
            <pc:sldMk cId="1150455618" sldId="2572"/>
            <ac:spMk id="2" creationId="{2E2629ED-B06B-8B98-CC64-ADEF3DE3465D}"/>
          </ac:spMkLst>
        </pc:spChg>
        <pc:spChg chg="mod">
          <ac:chgData name="" userId="" providerId="" clId="Web-{6FCA5EDE-AF24-4522-9747-73C150297337}" dt="2026-03-06T13:59:22.209" v="1" actId="34807"/>
          <ac:spMkLst>
            <pc:docMk/>
            <pc:sldMk cId="1150455618" sldId="2572"/>
            <ac:spMk id="4" creationId="{D01C98DC-905D-C779-0973-656A1858DAF8}"/>
          </ac:spMkLst>
        </pc:spChg>
        <pc:picChg chg="mod">
          <ac:chgData name="" userId="" providerId="" clId="Web-{6FCA5EDE-AF24-4522-9747-73C150297337}" dt="2026-03-06T13:59:22.209" v="1" actId="34807"/>
          <ac:picMkLst>
            <pc:docMk/>
            <pc:sldMk cId="1150455618" sldId="2572"/>
            <ac:picMk id="5" creationId="{204D4DEA-37C7-4DFC-83A6-A48909B52647}"/>
          </ac:picMkLst>
        </pc:picChg>
      </pc:sldChg>
      <pc:sldChg chg="modSp add mod modTransition addAnim chgLayout">
        <pc:chgData name="" userId="" providerId="" clId="Web-{6FCA5EDE-AF24-4522-9747-73C150297337}" dt="2026-03-06T13:59:22.209" v="15" actId="34807"/>
        <pc:sldMkLst>
          <pc:docMk/>
          <pc:sldMk cId="2685153576" sldId="2573"/>
        </pc:sldMkLst>
        <pc:spChg chg="mod">
          <ac:chgData name="" userId="" providerId="" clId="Web-{6FCA5EDE-AF24-4522-9747-73C150297337}" dt="2026-03-06T13:59:22.209" v="1" actId="34807"/>
          <ac:spMkLst>
            <pc:docMk/>
            <pc:sldMk cId="2685153576" sldId="2573"/>
            <ac:spMk id="2" creationId="{EA6CB2D0-C57E-F905-AAB9-084B6377BBC4}"/>
          </ac:spMkLst>
        </pc:spChg>
      </pc:sldChg>
      <pc:sldChg chg="modSp add mod modTransition modClrScheme addAnim chgLayout">
        <pc:chgData name="" userId="" providerId="" clId="Web-{6FCA5EDE-AF24-4522-9747-73C150297337}" dt="2026-03-06T13:59:22.209" v="16" actId="34807"/>
        <pc:sldMkLst>
          <pc:docMk/>
          <pc:sldMk cId="3473303126" sldId="2574"/>
        </pc:sldMkLst>
        <pc:spChg chg="mod">
          <ac:chgData name="" userId="" providerId="" clId="Web-{6FCA5EDE-AF24-4522-9747-73C150297337}" dt="2026-03-06T13:59:22.209" v="1" actId="34807"/>
          <ac:spMkLst>
            <pc:docMk/>
            <pc:sldMk cId="3473303126" sldId="2574"/>
            <ac:spMk id="2" creationId="{7E4EEF45-D75F-16DD-C1E4-3F973C66BD44}"/>
          </ac:spMkLst>
        </pc:spChg>
        <pc:spChg chg="mod">
          <ac:chgData name="" userId="" providerId="" clId="Web-{6FCA5EDE-AF24-4522-9747-73C150297337}" dt="2026-03-06T13:59:22.209" v="1" actId="34807"/>
          <ac:spMkLst>
            <pc:docMk/>
            <pc:sldMk cId="3473303126" sldId="2574"/>
            <ac:spMk id="4" creationId="{5688A975-8008-5006-B04B-3F6B9B7455E4}"/>
          </ac:spMkLst>
        </pc:spChg>
        <pc:picChg chg="mod">
          <ac:chgData name="" userId="" providerId="" clId="Web-{6FCA5EDE-AF24-4522-9747-73C150297337}" dt="2026-03-06T13:59:22.209" v="1" actId="34807"/>
          <ac:picMkLst>
            <pc:docMk/>
            <pc:sldMk cId="3473303126" sldId="2574"/>
            <ac:picMk id="5" creationId="{244918B6-84B0-49F0-B31B-B7ABC1D4F20A}"/>
          </ac:picMkLst>
        </pc:picChg>
      </pc:sldChg>
      <pc:sldChg chg="modSp add mod modTransition addAnim chgLayout">
        <pc:chgData name="" userId="" providerId="" clId="Web-{6FCA5EDE-AF24-4522-9747-73C150297337}" dt="2026-03-06T13:59:22.224" v="17" actId="34807"/>
        <pc:sldMkLst>
          <pc:docMk/>
          <pc:sldMk cId="4091985720" sldId="2575"/>
        </pc:sldMkLst>
        <pc:spChg chg="mod">
          <ac:chgData name="" userId="" providerId="" clId="Web-{6FCA5EDE-AF24-4522-9747-73C150297337}" dt="2026-03-06T13:59:22.209" v="1" actId="34807"/>
          <ac:spMkLst>
            <pc:docMk/>
            <pc:sldMk cId="4091985720" sldId="2575"/>
            <ac:spMk id="2" creationId="{D08FDB26-3DDA-1230-CD90-871F54806E2E}"/>
          </ac:spMkLst>
        </pc:spChg>
      </pc:sldChg>
      <pc:sldChg chg="modSp add mod modTransition modClrScheme chgLayout">
        <pc:chgData name="" userId="" providerId="" clId="Web-{6FCA5EDE-AF24-4522-9747-73C150297337}" dt="2026-03-06T13:59:22.209" v="1" actId="34807"/>
        <pc:sldMkLst>
          <pc:docMk/>
          <pc:sldMk cId="3311758834" sldId="2576"/>
        </pc:sldMkLst>
        <pc:spChg chg="mod">
          <ac:chgData name="" userId="" providerId="" clId="Web-{6FCA5EDE-AF24-4522-9747-73C150297337}" dt="2026-03-06T13:59:22.209" v="1" actId="34807"/>
          <ac:spMkLst>
            <pc:docMk/>
            <pc:sldMk cId="3311758834" sldId="2576"/>
            <ac:spMk id="2" creationId="{68D68022-F732-C472-8ED8-3DA79BA2321B}"/>
          </ac:spMkLst>
        </pc:spChg>
        <pc:graphicFrameChg chg="mod">
          <ac:chgData name="" userId="" providerId="" clId="Web-{6FCA5EDE-AF24-4522-9747-73C150297337}" dt="2026-03-06T13:59:22.209" v="1" actId="34807"/>
          <ac:graphicFrameMkLst>
            <pc:docMk/>
            <pc:sldMk cId="3311758834" sldId="2576"/>
            <ac:graphicFrameMk id="5" creationId="{4EB6AD79-4F1A-4C62-B143-76F39E2310FE}"/>
          </ac:graphicFrameMkLst>
        </pc:graphicFrameChg>
      </pc:sldChg>
      <pc:sldChg chg="modSp add mod modTransition addAnim chgLayout">
        <pc:chgData name="" userId="" providerId="" clId="Web-{6FCA5EDE-AF24-4522-9747-73C150297337}" dt="2026-03-06T13:59:22.224" v="18" actId="34807"/>
        <pc:sldMkLst>
          <pc:docMk/>
          <pc:sldMk cId="3916300222" sldId="2577"/>
        </pc:sldMkLst>
        <pc:spChg chg="mod">
          <ac:chgData name="" userId="" providerId="" clId="Web-{6FCA5EDE-AF24-4522-9747-73C150297337}" dt="2026-03-06T13:59:22.209" v="1" actId="34807"/>
          <ac:spMkLst>
            <pc:docMk/>
            <pc:sldMk cId="3916300222" sldId="2577"/>
            <ac:spMk id="2" creationId="{3E23ABBF-26FF-73DA-EAA2-5025BD98EBE6}"/>
          </ac:spMkLst>
        </pc:spChg>
      </pc:sldChg>
      <pc:sldChg chg="modSp add mod modTransition modClrScheme addAnim chgLayout">
        <pc:chgData name="" userId="" providerId="" clId="Web-{6FCA5EDE-AF24-4522-9747-73C150297337}" dt="2026-03-06T13:59:22.224" v="19" actId="34807"/>
        <pc:sldMkLst>
          <pc:docMk/>
          <pc:sldMk cId="3711499233" sldId="2578"/>
        </pc:sldMkLst>
        <pc:spChg chg="mod">
          <ac:chgData name="" userId="" providerId="" clId="Web-{6FCA5EDE-AF24-4522-9747-73C150297337}" dt="2026-03-06T13:59:22.209" v="1" actId="34807"/>
          <ac:spMkLst>
            <pc:docMk/>
            <pc:sldMk cId="3711499233" sldId="2578"/>
            <ac:spMk id="2" creationId="{C323DB06-DA16-9AFB-9C69-CFAFF993BA52}"/>
          </ac:spMkLst>
        </pc:spChg>
        <pc:spChg chg="mod">
          <ac:chgData name="" userId="" providerId="" clId="Web-{6FCA5EDE-AF24-4522-9747-73C150297337}" dt="2026-03-06T13:59:22.209" v="1" actId="34807"/>
          <ac:spMkLst>
            <pc:docMk/>
            <pc:sldMk cId="3711499233" sldId="2578"/>
            <ac:spMk id="4" creationId="{DCCC413A-CBC3-29BB-ADD3-94AE89A21B08}"/>
          </ac:spMkLst>
        </pc:spChg>
        <pc:picChg chg="mod">
          <ac:chgData name="" userId="" providerId="" clId="Web-{6FCA5EDE-AF24-4522-9747-73C150297337}" dt="2026-03-06T13:59:22.209" v="1" actId="34807"/>
          <ac:picMkLst>
            <pc:docMk/>
            <pc:sldMk cId="3711499233" sldId="2578"/>
            <ac:picMk id="5" creationId="{3EA6C1C5-74B5-4265-BBC9-6046CCAC8C63}"/>
          </ac:picMkLst>
        </pc:picChg>
      </pc:sldChg>
      <pc:sldChg chg="modSp add mod modTransition addAnim chgLayout">
        <pc:chgData name="" userId="" providerId="" clId="Web-{6FCA5EDE-AF24-4522-9747-73C150297337}" dt="2026-03-06T13:59:22.224" v="20" actId="34807"/>
        <pc:sldMkLst>
          <pc:docMk/>
          <pc:sldMk cId="1869781173" sldId="2579"/>
        </pc:sldMkLst>
        <pc:spChg chg="mod">
          <ac:chgData name="" userId="" providerId="" clId="Web-{6FCA5EDE-AF24-4522-9747-73C150297337}" dt="2026-03-06T13:59:22.209" v="1" actId="34807"/>
          <ac:spMkLst>
            <pc:docMk/>
            <pc:sldMk cId="1869781173" sldId="2579"/>
            <ac:spMk id="2" creationId="{F46B9B49-B596-5AF0-EB13-6E5856343F51}"/>
          </ac:spMkLst>
        </pc:spChg>
      </pc:sldChg>
      <pc:sldChg chg="modSp add mod modTransition modClrScheme addAnim chgLayout">
        <pc:chgData name="" userId="" providerId="" clId="Web-{6FCA5EDE-AF24-4522-9747-73C150297337}" dt="2026-03-06T13:59:22.224" v="21" actId="34807"/>
        <pc:sldMkLst>
          <pc:docMk/>
          <pc:sldMk cId="3806055072" sldId="2580"/>
        </pc:sldMkLst>
        <pc:spChg chg="mod">
          <ac:chgData name="" userId="" providerId="" clId="Web-{6FCA5EDE-AF24-4522-9747-73C150297337}" dt="2026-03-06T13:59:22.209" v="1" actId="34807"/>
          <ac:spMkLst>
            <pc:docMk/>
            <pc:sldMk cId="3806055072" sldId="2580"/>
            <ac:spMk id="2" creationId="{8EBFF148-117E-13AD-00B3-7745837085AC}"/>
          </ac:spMkLst>
        </pc:spChg>
        <pc:spChg chg="mod">
          <ac:chgData name="" userId="" providerId="" clId="Web-{6FCA5EDE-AF24-4522-9747-73C150297337}" dt="2026-03-06T13:59:22.209" v="1" actId="34807"/>
          <ac:spMkLst>
            <pc:docMk/>
            <pc:sldMk cId="3806055072" sldId="2580"/>
            <ac:spMk id="4" creationId="{C74BA443-3766-94C3-6B74-34E9EEF7A324}"/>
          </ac:spMkLst>
        </pc:spChg>
        <pc:picChg chg="mod">
          <ac:chgData name="" userId="" providerId="" clId="Web-{6FCA5EDE-AF24-4522-9747-73C150297337}" dt="2026-03-06T13:59:22.209" v="1" actId="34807"/>
          <ac:picMkLst>
            <pc:docMk/>
            <pc:sldMk cId="3806055072" sldId="2580"/>
            <ac:picMk id="5" creationId="{CAD844DE-B549-4A38-9514-9B24E23E9625}"/>
          </ac:picMkLst>
        </pc:picChg>
      </pc:sldChg>
    </pc:docChg>
  </pc:docChgLst>
  <pc:docChgLst>
    <pc:chgData name="Mikita Anisimau" userId="S::m.anisimau@godeltech.com::0b752c4b-8125-4bdf-8124-5c9f521bd76f" providerId="AD" clId="Web-{0C60484D-B2C3-A29E-4C1A-E2F31F149C66}"/>
    <pc:docChg chg="modSld">
      <pc:chgData name="Mikita Anisimau" userId="S::m.anisimau@godeltech.com::0b752c4b-8125-4bdf-8124-5c9f521bd76f" providerId="AD" clId="Web-{0C60484D-B2C3-A29E-4C1A-E2F31F149C66}" dt="2026-03-06T14:01:45.354" v="20"/>
      <pc:docMkLst>
        <pc:docMk/>
      </pc:docMkLst>
      <pc:sldChg chg="modSp">
        <pc:chgData name="Mikita Anisimau" userId="S::m.anisimau@godeltech.com::0b752c4b-8125-4bdf-8124-5c9f521bd76f" providerId="AD" clId="Web-{0C60484D-B2C3-A29E-4C1A-E2F31F149C66}" dt="2026-03-06T14:01:45.354" v="20"/>
        <pc:sldMkLst>
          <pc:docMk/>
          <pc:sldMk cId="3311758834" sldId="2576"/>
        </pc:sldMkLst>
        <pc:spChg chg="mod">
          <ac:chgData name="Mikita Anisimau" userId="S::m.anisimau@godeltech.com::0b752c4b-8125-4bdf-8124-5c9f521bd76f" providerId="AD" clId="Web-{0C60484D-B2C3-A29E-4C1A-E2F31F149C66}" dt="2026-03-06T14:01:15.494" v="1" actId="1076"/>
          <ac:spMkLst>
            <pc:docMk/>
            <pc:sldMk cId="3311758834" sldId="2576"/>
            <ac:spMk id="2" creationId="{68D68022-F732-C472-8ED8-3DA79BA2321B}"/>
          </ac:spMkLst>
        </pc:spChg>
        <pc:graphicFrameChg chg="mod modGraphic">
          <ac:chgData name="Mikita Anisimau" userId="S::m.anisimau@godeltech.com::0b752c4b-8125-4bdf-8124-5c9f521bd76f" providerId="AD" clId="Web-{0C60484D-B2C3-A29E-4C1A-E2F31F149C66}" dt="2026-03-06T14:01:45.354" v="20"/>
          <ac:graphicFrameMkLst>
            <pc:docMk/>
            <pc:sldMk cId="3311758834" sldId="2576"/>
            <ac:graphicFrameMk id="5" creationId="{4EB6AD79-4F1A-4C62-B143-76F39E2310F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03C38-124B-4A2D-BBE3-0EC7541FD083}" type="datetimeFigureOut">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DB4DC4-B131-4B89-B3DB-4A76B9FB2D1F}" type="slidenum">
              <a:t>‹#›</a:t>
            </a:fld>
            <a:endParaRPr lang="en-US"/>
          </a:p>
        </p:txBody>
      </p:sp>
    </p:spTree>
    <p:extLst>
      <p:ext uri="{BB962C8B-B14F-4D97-AF65-F5344CB8AC3E}">
        <p14:creationId xmlns:p14="http://schemas.microsoft.com/office/powerpoint/2010/main" val="3322938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ACCF685B-E54F-4EB7-85C3-BFDA02DD39EA}" type="slidenum">
              <a:t>1</a:t>
            </a:fld>
            <a:endParaRPr lang="en-US"/>
          </a:p>
        </p:txBody>
      </p:sp>
    </p:spTree>
    <p:extLst>
      <p:ext uri="{BB962C8B-B14F-4D97-AF65-F5344CB8AC3E}">
        <p14:creationId xmlns:p14="http://schemas.microsoft.com/office/powerpoint/2010/main" val="3174410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of QA Strategy</a:t>
            </a:r>
          </a:p>
        </p:txBody>
      </p:sp>
      <p:sp>
        <p:nvSpPr>
          <p:cNvPr id="4" name="Slide Number Placeholder 3"/>
          <p:cNvSpPr>
            <a:spLocks noGrp="1"/>
          </p:cNvSpPr>
          <p:nvPr>
            <p:ph type="sldNum" sz="quarter" idx="5"/>
          </p:nvPr>
        </p:nvSpPr>
        <p:spPr/>
        <p:txBody>
          <a:bodyPr/>
          <a:lstStyle/>
          <a:p>
            <a:fld id="{ACCF685B-E54F-4EB7-85C3-BFDA02DD39EA}" type="slidenum">
              <a:t>2</a:t>
            </a:fld>
            <a:endParaRPr lang="en-US"/>
          </a:p>
        </p:txBody>
      </p:sp>
    </p:spTree>
    <p:extLst>
      <p:ext uri="{BB962C8B-B14F-4D97-AF65-F5344CB8AC3E}">
        <p14:creationId xmlns:p14="http://schemas.microsoft.com/office/powerpoint/2010/main" val="2349115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QA Strategy aims to ensure that customers receive accurate pricing, visibility into inventory availability, and a dependable ordering experience for motorcycles, gear, and accessories. It reduces risks associated with incorrect payments, failed inventory synchronization, and flawed fulfillment processes that could negatively impact business reputation and customer satisfaction. Additionally, the strategy supports the safety-critical nature of the products by preventing errors that could affect the quality or suitability of delivered items.</a:t>
            </a:r>
          </a:p>
        </p:txBody>
      </p:sp>
      <p:sp>
        <p:nvSpPr>
          <p:cNvPr id="4" name="Slide Number Placeholder 3"/>
          <p:cNvSpPr>
            <a:spLocks noGrp="1"/>
          </p:cNvSpPr>
          <p:nvPr>
            <p:ph type="sldNum" sz="quarter" idx="5"/>
          </p:nvPr>
        </p:nvSpPr>
        <p:spPr/>
        <p:txBody>
          <a:bodyPr/>
          <a:lstStyle/>
          <a:p>
            <a:fld id="{ACCF685B-E54F-4EB7-85C3-BFDA02DD39EA}" type="slidenum">
              <a:t>3</a:t>
            </a:fld>
            <a:endParaRPr lang="en-US"/>
          </a:p>
        </p:txBody>
      </p:sp>
    </p:spTree>
    <p:extLst>
      <p:ext uri="{BB962C8B-B14F-4D97-AF65-F5344CB8AC3E}">
        <p14:creationId xmlns:p14="http://schemas.microsoft.com/office/powerpoint/2010/main" val="2989356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Principles, Test Levels</a:t>
            </a:r>
          </a:p>
        </p:txBody>
      </p:sp>
      <p:sp>
        <p:nvSpPr>
          <p:cNvPr id="4" name="Slide Number Placeholder 3"/>
          <p:cNvSpPr>
            <a:spLocks noGrp="1"/>
          </p:cNvSpPr>
          <p:nvPr>
            <p:ph type="sldNum" sz="quarter" idx="5"/>
          </p:nvPr>
        </p:nvSpPr>
        <p:spPr/>
        <p:txBody>
          <a:bodyPr/>
          <a:lstStyle/>
          <a:p>
            <a:fld id="{ACCF685B-E54F-4EB7-85C3-BFDA02DD39EA}" type="slidenum">
              <a:t>4</a:t>
            </a:fld>
            <a:endParaRPr lang="en-US"/>
          </a:p>
        </p:txBody>
      </p:sp>
    </p:spTree>
    <p:extLst>
      <p:ext uri="{BB962C8B-B14F-4D97-AF65-F5344CB8AC3E}">
        <p14:creationId xmlns:p14="http://schemas.microsoft.com/office/powerpoint/2010/main" val="3438743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Testing principles focus on maximizing feedback speed by validating logic at the unit and API levels, enabling pull request checks within ten minutes. Testing is aligned to architectural boundaries to efficiently detect defects across the frontend, backend-for-frontend, and backend services. A risk-based approach prioritizes high-impact areas such as pricing accuracy, inventory handling, payment flows, and accessory compatibility. End-to-end tests are reserved for purchase-critical flows due to staging environment limitations. Integration tests ensure that key processes, such as payment provider interactions and warehouse synchronization, function reliably.</a:t>
            </a:r>
          </a:p>
        </p:txBody>
      </p:sp>
      <p:sp>
        <p:nvSpPr>
          <p:cNvPr id="4" name="Slide Number Placeholder 3"/>
          <p:cNvSpPr>
            <a:spLocks noGrp="1"/>
          </p:cNvSpPr>
          <p:nvPr>
            <p:ph type="sldNum" sz="quarter" idx="5"/>
          </p:nvPr>
        </p:nvSpPr>
        <p:spPr/>
        <p:txBody>
          <a:bodyPr/>
          <a:lstStyle/>
          <a:p>
            <a:fld id="{ACCF685B-E54F-4EB7-85C3-BFDA02DD39EA}" type="slidenum">
              <a:t>5</a:t>
            </a:fld>
            <a:endParaRPr lang="en-US"/>
          </a:p>
        </p:txBody>
      </p:sp>
    </p:spTree>
    <p:extLst>
      <p:ext uri="{BB962C8B-B14F-4D97-AF65-F5344CB8AC3E}">
        <p14:creationId xmlns:p14="http://schemas.microsoft.com/office/powerpoint/2010/main" val="1087590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test levels cover unit tests that validate pricing, compatibility logic, and services in isolation. API and service-level tests ensure correct behavior in catalog management, order processing, inventory synchronization, and payment interactions. Integration tests verify essential boundaries, such as interactions between the frontend and API gateway or between backend services and warehouse systems. End-to-end tests focus on full customer journeys, including browsing, configuring accessories, placing orders, and making payments. Nightly regression tests stress cross-service workflows to identify issues in stock handling, discount rules, or payment edge cases.</a:t>
            </a:r>
          </a:p>
        </p:txBody>
      </p:sp>
      <p:sp>
        <p:nvSpPr>
          <p:cNvPr id="4" name="Slide Number Placeholder 3"/>
          <p:cNvSpPr>
            <a:spLocks noGrp="1"/>
          </p:cNvSpPr>
          <p:nvPr>
            <p:ph type="sldNum" sz="quarter" idx="5"/>
          </p:nvPr>
        </p:nvSpPr>
        <p:spPr/>
        <p:txBody>
          <a:bodyPr/>
          <a:lstStyle/>
          <a:p>
            <a:fld id="{ACCF685B-E54F-4EB7-85C3-BFDA02DD39EA}" type="slidenum">
              <a:t>6</a:t>
            </a:fld>
            <a:endParaRPr lang="en-US"/>
          </a:p>
        </p:txBody>
      </p:sp>
    </p:spTree>
    <p:extLst>
      <p:ext uri="{BB962C8B-B14F-4D97-AF65-F5344CB8AC3E}">
        <p14:creationId xmlns:p14="http://schemas.microsoft.com/office/powerpoint/2010/main" val="2772527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 Object Boundaries</a:t>
            </a:r>
          </a:p>
        </p:txBody>
      </p:sp>
      <p:sp>
        <p:nvSpPr>
          <p:cNvPr id="4" name="Slide Number Placeholder 3"/>
          <p:cNvSpPr>
            <a:spLocks noGrp="1"/>
          </p:cNvSpPr>
          <p:nvPr>
            <p:ph type="sldNum" sz="quarter" idx="5"/>
          </p:nvPr>
        </p:nvSpPr>
        <p:spPr/>
        <p:txBody>
          <a:bodyPr/>
          <a:lstStyle/>
          <a:p>
            <a:fld id="{ACCF685B-E54F-4EB7-85C3-BFDA02DD39EA}" type="slidenum">
              <a:t>7</a:t>
            </a:fld>
            <a:endParaRPr lang="en-US"/>
          </a:p>
        </p:txBody>
      </p:sp>
    </p:spTree>
    <p:extLst>
      <p:ext uri="{BB962C8B-B14F-4D97-AF65-F5344CB8AC3E}">
        <p14:creationId xmlns:p14="http://schemas.microsoft.com/office/powerpoint/2010/main" val="1749611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scope of testing is distributed across key system components, including the web storefront, API gateway, catalog services, order and checkout processes, inventory synchronization functions, compatibility rules engines, and integrations with external payment and warehouse providers. Each component has a dedicated test level aligned with realistic execution timing and environments: pull-request level, deployment triggers, nightly runs, or release validation. The environments span from local development and preview deployments with mocked services to production-like staging conditions.</a:t>
            </a:r>
          </a:p>
        </p:txBody>
      </p:sp>
      <p:sp>
        <p:nvSpPr>
          <p:cNvPr id="4" name="Slide Number Placeholder 3"/>
          <p:cNvSpPr>
            <a:spLocks noGrp="1"/>
          </p:cNvSpPr>
          <p:nvPr>
            <p:ph type="sldNum" sz="quarter" idx="5"/>
          </p:nvPr>
        </p:nvSpPr>
        <p:spPr/>
        <p:txBody>
          <a:bodyPr/>
          <a:lstStyle/>
          <a:p>
            <a:fld id="{ACCF685B-E54F-4EB7-85C3-BFDA02DD39EA}" type="slidenum">
              <a:t>8</a:t>
            </a:fld>
            <a:endParaRPr lang="en-US"/>
          </a:p>
        </p:txBody>
      </p:sp>
    </p:spTree>
    <p:extLst>
      <p:ext uri="{BB962C8B-B14F-4D97-AF65-F5344CB8AC3E}">
        <p14:creationId xmlns:p14="http://schemas.microsoft.com/office/powerpoint/2010/main" val="3541499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Lifecycle Overview</a:t>
            </a:r>
          </a:p>
        </p:txBody>
      </p:sp>
      <p:sp>
        <p:nvSpPr>
          <p:cNvPr id="4" name="Slide Number Placeholder 3"/>
          <p:cNvSpPr>
            <a:spLocks noGrp="1"/>
          </p:cNvSpPr>
          <p:nvPr>
            <p:ph type="sldNum" sz="quarter" idx="5"/>
          </p:nvPr>
        </p:nvSpPr>
        <p:spPr/>
        <p:txBody>
          <a:bodyPr/>
          <a:lstStyle/>
          <a:p>
            <a:fld id="{ACCF685B-E54F-4EB7-85C3-BFDA02DD39EA}" type="slidenum">
              <a:t>9</a:t>
            </a:fld>
            <a:endParaRPr lang="en-US"/>
          </a:p>
        </p:txBody>
      </p:sp>
    </p:spTree>
    <p:extLst>
      <p:ext uri="{BB962C8B-B14F-4D97-AF65-F5344CB8AC3E}">
        <p14:creationId xmlns:p14="http://schemas.microsoft.com/office/powerpoint/2010/main" val="2632339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test lifecycle begins with scope definition, where developers and SDETs identify relevant service logic and API boundaries while QA and product owners outline critical value flows. During test development, developers create unit and API tests while SDETs build component and end-to-end scenarios. In the analysis phase, teams interpret failures to identify logic defects, UI/API mismatches, or integration issues. Test maintenance involves stabilizing fast feedback tests and updating data or flows for broader test layers. Troubleshooting uses mocks for rapid debugging at lower levels while addressing deeper defects in end-to-end or regression stages.</a:t>
            </a:r>
          </a:p>
        </p:txBody>
      </p:sp>
      <p:sp>
        <p:nvSpPr>
          <p:cNvPr id="4" name="Slide Number Placeholder 3"/>
          <p:cNvSpPr>
            <a:spLocks noGrp="1"/>
          </p:cNvSpPr>
          <p:nvPr>
            <p:ph type="sldNum" sz="quarter" idx="5"/>
          </p:nvPr>
        </p:nvSpPr>
        <p:spPr/>
        <p:txBody>
          <a:bodyPr/>
          <a:lstStyle/>
          <a:p>
            <a:fld id="{ACCF685B-E54F-4EB7-85C3-BFDA02DD39EA}" type="slidenum">
              <a:t>10</a:t>
            </a:fld>
            <a:endParaRPr lang="en-US"/>
          </a:p>
        </p:txBody>
      </p:sp>
    </p:spTree>
    <p:extLst>
      <p:ext uri="{BB962C8B-B14F-4D97-AF65-F5344CB8AC3E}">
        <p14:creationId xmlns:p14="http://schemas.microsoft.com/office/powerpoint/2010/main" val="3012291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Continuous Delivery Quality Gates</a:t>
            </a:r>
          </a:p>
        </p:txBody>
      </p:sp>
      <p:sp>
        <p:nvSpPr>
          <p:cNvPr id="4" name="Slide Number Placeholder 3"/>
          <p:cNvSpPr>
            <a:spLocks noGrp="1"/>
          </p:cNvSpPr>
          <p:nvPr>
            <p:ph type="sldNum" sz="quarter" idx="5"/>
          </p:nvPr>
        </p:nvSpPr>
        <p:spPr/>
        <p:txBody>
          <a:bodyPr/>
          <a:lstStyle/>
          <a:p>
            <a:fld id="{ACCF685B-E54F-4EB7-85C3-BFDA02DD39EA}" type="slidenum">
              <a:t>11</a:t>
            </a:fld>
            <a:endParaRPr lang="en-US"/>
          </a:p>
        </p:txBody>
      </p:sp>
    </p:spTree>
    <p:extLst>
      <p:ext uri="{BB962C8B-B14F-4D97-AF65-F5344CB8AC3E}">
        <p14:creationId xmlns:p14="http://schemas.microsoft.com/office/powerpoint/2010/main" val="138737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Throughout the CI/CD pipeline, validations are layered across environments and triggered at specific stages. In the feature branch, unit, API, and component tests ensure fast validation. Preview environments enable integration testing with mocked external services and light UI flows. The stage branch triggers broader regression and inventory synchronization tests. The stage environment hosts nightly regressions and full end-to-end validation, confirming rule engine behavior and payment/warehouse integration. Final deployment to the main branch relies on telemetry-based checks, ensuring system health before release.</a:t>
            </a:r>
          </a:p>
        </p:txBody>
      </p:sp>
      <p:sp>
        <p:nvSpPr>
          <p:cNvPr id="4" name="Slide Number Placeholder 3"/>
          <p:cNvSpPr>
            <a:spLocks noGrp="1"/>
          </p:cNvSpPr>
          <p:nvPr>
            <p:ph type="sldNum" sz="quarter" idx="5"/>
          </p:nvPr>
        </p:nvSpPr>
        <p:spPr/>
        <p:txBody>
          <a:bodyPr/>
          <a:lstStyle/>
          <a:p>
            <a:fld id="{ACCF685B-E54F-4EB7-85C3-BFDA02DD39EA}" type="slidenum">
              <a:t>12</a:t>
            </a:fld>
            <a:endParaRPr lang="en-US"/>
          </a:p>
        </p:txBody>
      </p:sp>
    </p:spTree>
    <p:extLst>
      <p:ext uri="{BB962C8B-B14F-4D97-AF65-F5344CB8AC3E}">
        <p14:creationId xmlns:p14="http://schemas.microsoft.com/office/powerpoint/2010/main" val="2612244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Delivery Flow</a:t>
            </a:r>
          </a:p>
        </p:txBody>
      </p:sp>
      <p:sp>
        <p:nvSpPr>
          <p:cNvPr id="4" name="Slide Number Placeholder 3"/>
          <p:cNvSpPr>
            <a:spLocks noGrp="1"/>
          </p:cNvSpPr>
          <p:nvPr>
            <p:ph type="sldNum" sz="quarter" idx="5"/>
          </p:nvPr>
        </p:nvSpPr>
        <p:spPr/>
        <p:txBody>
          <a:bodyPr/>
          <a:lstStyle/>
          <a:p>
            <a:fld id="{ACCF685B-E54F-4EB7-85C3-BFDA02DD39EA}" type="slidenum">
              <a:t>13</a:t>
            </a:fld>
            <a:endParaRPr lang="en-US"/>
          </a:p>
        </p:txBody>
      </p:sp>
    </p:spTree>
    <p:extLst>
      <p:ext uri="{BB962C8B-B14F-4D97-AF65-F5344CB8AC3E}">
        <p14:creationId xmlns:p14="http://schemas.microsoft.com/office/powerpoint/2010/main" val="2718668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Delivery begins with collaborative requirement refinement involving QA, developers, and the product owner to identify risks in pricing, compatibility, payment processing, and inventory updates. Development proceeds in small slices supported by unit and API tests, while SDETs prepare higher-level automated scenarios. Preview deployments facilitate mocked-integration validation before staging. The staging environment acts as the main quality gate with full regression and end-to-end validation of real rule-engine workflows. Prior to release, only critical issues affecting value flows can block deployment, followed by telemetry review in production-readonly environments.</a:t>
            </a:r>
          </a:p>
        </p:txBody>
      </p:sp>
      <p:sp>
        <p:nvSpPr>
          <p:cNvPr id="4" name="Slide Number Placeholder 3"/>
          <p:cNvSpPr>
            <a:spLocks noGrp="1"/>
          </p:cNvSpPr>
          <p:nvPr>
            <p:ph type="sldNum" sz="quarter" idx="5"/>
          </p:nvPr>
        </p:nvSpPr>
        <p:spPr/>
        <p:txBody>
          <a:bodyPr/>
          <a:lstStyle/>
          <a:p>
            <a:fld id="{ACCF685B-E54F-4EB7-85C3-BFDA02DD39EA}" type="slidenum">
              <a:t>14</a:t>
            </a:fld>
            <a:endParaRPr lang="en-US"/>
          </a:p>
        </p:txBody>
      </p:sp>
    </p:spTree>
    <p:extLst>
      <p:ext uri="{BB962C8B-B14F-4D97-AF65-F5344CB8AC3E}">
        <p14:creationId xmlns:p14="http://schemas.microsoft.com/office/powerpoint/2010/main" val="3659164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Bug Workflow Diagram</a:t>
            </a:r>
          </a:p>
        </p:txBody>
      </p:sp>
      <p:sp>
        <p:nvSpPr>
          <p:cNvPr id="4" name="Slide Number Placeholder 3"/>
          <p:cNvSpPr>
            <a:spLocks noGrp="1"/>
          </p:cNvSpPr>
          <p:nvPr>
            <p:ph type="sldNum" sz="quarter" idx="5"/>
          </p:nvPr>
        </p:nvSpPr>
        <p:spPr/>
        <p:txBody>
          <a:bodyPr/>
          <a:lstStyle/>
          <a:p>
            <a:fld id="{ACCF685B-E54F-4EB7-85C3-BFDA02DD39EA}" type="slidenum">
              <a:t>15</a:t>
            </a:fld>
            <a:endParaRPr lang="en-US"/>
          </a:p>
        </p:txBody>
      </p:sp>
    </p:spTree>
    <p:extLst>
      <p:ext uri="{BB962C8B-B14F-4D97-AF65-F5344CB8AC3E}">
        <p14:creationId xmlns:p14="http://schemas.microsoft.com/office/powerpoint/2010/main" val="148437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Bug management follows a structured flow beginning with bug reporting, followed by triage performed jointly by QA and the product owner, ensuring severity aligns with risks in pricing, claims, or partner APIs. Developers address confirmed defects, after which QA or SDETs verify fixes before promoting changes to the staging environment. Final release decisions consider the presence of critical issues in value-critical flows. This systematic workflow strengthens quality control across environments.</a:t>
            </a:r>
          </a:p>
        </p:txBody>
      </p:sp>
      <p:sp>
        <p:nvSpPr>
          <p:cNvPr id="4" name="Slide Number Placeholder 3"/>
          <p:cNvSpPr>
            <a:spLocks noGrp="1"/>
          </p:cNvSpPr>
          <p:nvPr>
            <p:ph type="sldNum" sz="quarter" idx="5"/>
          </p:nvPr>
        </p:nvSpPr>
        <p:spPr/>
        <p:txBody>
          <a:bodyPr/>
          <a:lstStyle/>
          <a:p>
            <a:fld id="{ACCF685B-E54F-4EB7-85C3-BFDA02DD39EA}" type="slidenum">
              <a:t>16</a:t>
            </a:fld>
            <a:endParaRPr lang="en-US"/>
          </a:p>
        </p:txBody>
      </p:sp>
    </p:spTree>
    <p:extLst>
      <p:ext uri="{BB962C8B-B14F-4D97-AF65-F5344CB8AC3E}">
        <p14:creationId xmlns:p14="http://schemas.microsoft.com/office/powerpoint/2010/main" val="994090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Quality Criteria Diagram</a:t>
            </a:r>
          </a:p>
        </p:txBody>
      </p:sp>
      <p:sp>
        <p:nvSpPr>
          <p:cNvPr id="4" name="Slide Number Placeholder 3"/>
          <p:cNvSpPr>
            <a:spLocks noGrp="1"/>
          </p:cNvSpPr>
          <p:nvPr>
            <p:ph type="sldNum" sz="quarter" idx="5"/>
          </p:nvPr>
        </p:nvSpPr>
        <p:spPr/>
        <p:txBody>
          <a:bodyPr/>
          <a:lstStyle/>
          <a:p>
            <a:fld id="{ACCF685B-E54F-4EB7-85C3-BFDA02DD39EA}" type="slidenum">
              <a:t>17</a:t>
            </a:fld>
            <a:endParaRPr lang="en-US"/>
          </a:p>
        </p:txBody>
      </p:sp>
    </p:spTree>
    <p:extLst>
      <p:ext uri="{BB962C8B-B14F-4D97-AF65-F5344CB8AC3E}">
        <p14:creationId xmlns:p14="http://schemas.microsoft.com/office/powerpoint/2010/main" val="3133763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Definition of Done encompasses three primary quality pillars: pricing and claims correctness, partner API stability, and overall quality gates. Pricing and claims logic must be validated through unit and integration tests to ensure consistent and correct outcomes. Partner API interactions must demonstrate stability and contract adherence. Quality gates require automated checks across all affected value flows, green pull request pipelines within time constraints, user experience reviews when relevant, and observability instrumentation for production readiness.</a:t>
            </a:r>
          </a:p>
        </p:txBody>
      </p:sp>
      <p:sp>
        <p:nvSpPr>
          <p:cNvPr id="4" name="Slide Number Placeholder 3"/>
          <p:cNvSpPr>
            <a:spLocks noGrp="1"/>
          </p:cNvSpPr>
          <p:nvPr>
            <p:ph type="sldNum" sz="quarter" idx="5"/>
          </p:nvPr>
        </p:nvSpPr>
        <p:spPr/>
        <p:txBody>
          <a:bodyPr/>
          <a:lstStyle/>
          <a:p>
            <a:fld id="{ACCF685B-E54F-4EB7-85C3-BFDA02DD39EA}" type="slidenum">
              <a:t>18</a:t>
            </a:fld>
            <a:endParaRPr lang="en-US"/>
          </a:p>
        </p:txBody>
      </p:sp>
    </p:spTree>
    <p:extLst>
      <p:ext uri="{BB962C8B-B14F-4D97-AF65-F5344CB8AC3E}">
        <p14:creationId xmlns:p14="http://schemas.microsoft.com/office/powerpoint/2010/main" val="396767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Testing &amp; Quality Metrics</a:t>
            </a:r>
          </a:p>
        </p:txBody>
      </p:sp>
      <p:sp>
        <p:nvSpPr>
          <p:cNvPr id="4" name="Slide Number Placeholder 3"/>
          <p:cNvSpPr>
            <a:spLocks noGrp="1"/>
          </p:cNvSpPr>
          <p:nvPr>
            <p:ph type="sldNum" sz="quarter" idx="5"/>
          </p:nvPr>
        </p:nvSpPr>
        <p:spPr/>
        <p:txBody>
          <a:bodyPr/>
          <a:lstStyle/>
          <a:p>
            <a:fld id="{ACCF685B-E54F-4EB7-85C3-BFDA02DD39EA}" type="slidenum">
              <a:t>19</a:t>
            </a:fld>
            <a:endParaRPr lang="en-US"/>
          </a:p>
        </p:txBody>
      </p:sp>
    </p:spTree>
    <p:extLst>
      <p:ext uri="{BB962C8B-B14F-4D97-AF65-F5344CB8AC3E}">
        <p14:creationId xmlns:p14="http://schemas.microsoft.com/office/powerpoint/2010/main" val="2441320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Key metrics span three domains: Quality Signals, Testing Efficiency, and Production &amp; Regression metrics. Quality signals track pass rates for pricing and claim-decision tests, partner API failure rates, defect leakage between environments, and rule-engine error frequency. Testing efficiency metrics include pull request pipeline duration compliance, test flakiness rates, mean time to isolate pipeline failures, and automated coverage of high-risk flows. Production and regression metrics measure error rates in pricing and claims, incident frequency across value flows, nightly staging regression stability, and performance of external integrations observed via telemetry.</a:t>
            </a:r>
          </a:p>
        </p:txBody>
      </p:sp>
      <p:sp>
        <p:nvSpPr>
          <p:cNvPr id="4" name="Slide Number Placeholder 3"/>
          <p:cNvSpPr>
            <a:spLocks noGrp="1"/>
          </p:cNvSpPr>
          <p:nvPr>
            <p:ph type="sldNum" sz="quarter" idx="5"/>
          </p:nvPr>
        </p:nvSpPr>
        <p:spPr/>
        <p:txBody>
          <a:bodyPr/>
          <a:lstStyle/>
          <a:p>
            <a:fld id="{ACCF685B-E54F-4EB7-85C3-BFDA02DD39EA}" type="slidenum">
              <a:t>20</a:t>
            </a:fld>
            <a:endParaRPr lang="en-US"/>
          </a:p>
        </p:txBody>
      </p:sp>
    </p:spTree>
    <p:extLst>
      <p:ext uri="{BB962C8B-B14F-4D97-AF65-F5344CB8AC3E}">
        <p14:creationId xmlns:p14="http://schemas.microsoft.com/office/powerpoint/2010/main" val="17886190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March 6, 2026</a:t>
            </a:fld>
            <a:endParaRPr lang="en-US"/>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March 6, 2026</a:t>
            </a:fld>
            <a:endParaRPr lang="en-US"/>
          </a:p>
        </p:txBody>
      </p:sp>
    </p:spTree>
    <p:extLst>
      <p:ext uri="{BB962C8B-B14F-4D97-AF65-F5344CB8AC3E}">
        <p14:creationId xmlns:p14="http://schemas.microsoft.com/office/powerpoint/2010/main" val="210065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March 6, 2026</a:t>
            </a:fld>
            <a:endParaRPr lang="en-US"/>
          </a:p>
        </p:txBody>
      </p:sp>
    </p:spTree>
    <p:extLst>
      <p:ext uri="{BB962C8B-B14F-4D97-AF65-F5344CB8AC3E}">
        <p14:creationId xmlns:p14="http://schemas.microsoft.com/office/powerpoint/2010/main" val="282536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March 6, 2026</a:t>
            </a:fld>
            <a:endParaRPr lang="en-US"/>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March 6, 2026</a:t>
            </a:fld>
            <a:endParaRPr lang="en-US"/>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March 6, 2026</a:t>
            </a:fld>
            <a:endParaRPr lang="en-US"/>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March 6, 2026</a:t>
            </a:fld>
            <a:endParaRPr lang="en-US"/>
          </a:p>
        </p:txBody>
      </p:sp>
    </p:spTree>
    <p:extLst>
      <p:ext uri="{BB962C8B-B14F-4D97-AF65-F5344CB8AC3E}">
        <p14:creationId xmlns:p14="http://schemas.microsoft.com/office/powerpoint/2010/main" val="120423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March 6, 2026</a:t>
            </a:fld>
            <a:endParaRPr lang="en-US"/>
          </a:p>
        </p:txBody>
      </p:sp>
    </p:spTree>
    <p:extLst>
      <p:ext uri="{BB962C8B-B14F-4D97-AF65-F5344CB8AC3E}">
        <p14:creationId xmlns:p14="http://schemas.microsoft.com/office/powerpoint/2010/main" val="2624309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March 6, 2026</a:t>
            </a:fld>
            <a:endParaRPr lang="en-US"/>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March 6, 2026</a:t>
            </a:fld>
            <a:endParaRPr lang="en-US"/>
          </a:p>
        </p:txBody>
      </p:sp>
    </p:spTree>
    <p:extLst>
      <p:ext uri="{BB962C8B-B14F-4D97-AF65-F5344CB8AC3E}">
        <p14:creationId xmlns:p14="http://schemas.microsoft.com/office/powerpoint/2010/main" val="4013705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March 6, 2026</a:t>
            </a:fld>
            <a:endParaRPr lang="en-US"/>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March 6, 2026</a:t>
            </a:fld>
            <a:endParaRPr lang="en-US"/>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March 6, 2026</a:t>
            </a:fld>
            <a:endParaRPr lang="en-US"/>
          </a:p>
        </p:txBody>
      </p:sp>
    </p:spTree>
    <p:extLst>
      <p:ext uri="{BB962C8B-B14F-4D97-AF65-F5344CB8AC3E}">
        <p14:creationId xmlns:p14="http://schemas.microsoft.com/office/powerpoint/2010/main" val="26090287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March 6, 2026</a:t>
            </a:fld>
            <a:endParaRPr lang="en-US"/>
          </a:p>
        </p:txBody>
      </p:sp>
    </p:spTree>
    <p:extLst>
      <p:ext uri="{BB962C8B-B14F-4D97-AF65-F5344CB8AC3E}">
        <p14:creationId xmlns:p14="http://schemas.microsoft.com/office/powerpoint/2010/main" val="1565620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March 6, 2026</a:t>
            </a:fld>
            <a:endParaRPr lang="en-US"/>
          </a:p>
        </p:txBody>
      </p:sp>
    </p:spTree>
    <p:extLst>
      <p:ext uri="{BB962C8B-B14F-4D97-AF65-F5344CB8AC3E}">
        <p14:creationId xmlns:p14="http://schemas.microsoft.com/office/powerpoint/2010/main" val="3019639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March 6, 2026</a:t>
            </a:fld>
            <a:endParaRPr lang="en-US"/>
          </a:p>
        </p:txBody>
      </p:sp>
    </p:spTree>
    <p:extLst>
      <p:ext uri="{BB962C8B-B14F-4D97-AF65-F5344CB8AC3E}">
        <p14:creationId xmlns:p14="http://schemas.microsoft.com/office/powerpoint/2010/main" val="3676040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March 6, 2026</a:t>
            </a:fld>
            <a:endParaRPr lang="en-US"/>
          </a:p>
        </p:txBody>
      </p:sp>
    </p:spTree>
    <p:extLst>
      <p:ext uri="{BB962C8B-B14F-4D97-AF65-F5344CB8AC3E}">
        <p14:creationId xmlns:p14="http://schemas.microsoft.com/office/powerpoint/2010/main" val="2366737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March 6, 2026</a:t>
            </a:fld>
            <a:endParaRPr lang="en-US"/>
          </a:p>
        </p:txBody>
      </p:sp>
    </p:spTree>
    <p:extLst>
      <p:ext uri="{BB962C8B-B14F-4D97-AF65-F5344CB8AC3E}">
        <p14:creationId xmlns:p14="http://schemas.microsoft.com/office/powerpoint/2010/main" val="17257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March 6, 2026</a:t>
            </a:fld>
            <a:endParaRPr lang="en-US"/>
          </a:p>
        </p:txBody>
      </p:sp>
    </p:spTree>
    <p:extLst>
      <p:ext uri="{BB962C8B-B14F-4D97-AF65-F5344CB8AC3E}">
        <p14:creationId xmlns:p14="http://schemas.microsoft.com/office/powerpoint/2010/main" val="253430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March 6, 2026</a:t>
            </a:fld>
            <a:endParaRPr lang="en-US"/>
          </a:p>
        </p:txBody>
      </p:sp>
    </p:spTree>
    <p:extLst>
      <p:ext uri="{BB962C8B-B14F-4D97-AF65-F5344CB8AC3E}">
        <p14:creationId xmlns:p14="http://schemas.microsoft.com/office/powerpoint/2010/main" val="51917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March 6, 2026</a:t>
            </a:fld>
            <a:endParaRPr lang="en-US"/>
          </a:p>
        </p:txBody>
      </p:sp>
    </p:spTree>
    <p:extLst>
      <p:ext uri="{BB962C8B-B14F-4D97-AF65-F5344CB8AC3E}">
        <p14:creationId xmlns:p14="http://schemas.microsoft.com/office/powerpoint/2010/main" val="2610922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March 6, 2026</a:t>
            </a:fld>
            <a:endParaRPr lang="en-US"/>
          </a:p>
        </p:txBody>
      </p:sp>
    </p:spTree>
    <p:extLst>
      <p:ext uri="{BB962C8B-B14F-4D97-AF65-F5344CB8AC3E}">
        <p14:creationId xmlns:p14="http://schemas.microsoft.com/office/powerpoint/2010/main" val="2667466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March 6, 2026</a:t>
            </a:fld>
            <a:endParaRPr lang="en-US"/>
          </a:p>
        </p:txBody>
      </p:sp>
    </p:spTree>
    <p:extLst>
      <p:ext uri="{BB962C8B-B14F-4D97-AF65-F5344CB8AC3E}">
        <p14:creationId xmlns:p14="http://schemas.microsoft.com/office/powerpoint/2010/main" val="4119986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March 6, 2026</a:t>
            </a:fld>
            <a:endParaRPr lang="en-US"/>
          </a:p>
        </p:txBody>
      </p:sp>
    </p:spTree>
    <p:extLst>
      <p:ext uri="{BB962C8B-B14F-4D97-AF65-F5344CB8AC3E}">
        <p14:creationId xmlns:p14="http://schemas.microsoft.com/office/powerpoint/2010/main" val="1809744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March 6, 2026</a:t>
            </a:fld>
            <a:endParaRPr lang="en-US"/>
          </a:p>
        </p:txBody>
      </p:sp>
    </p:spTree>
    <p:extLst>
      <p:ext uri="{BB962C8B-B14F-4D97-AF65-F5344CB8AC3E}">
        <p14:creationId xmlns:p14="http://schemas.microsoft.com/office/powerpoint/2010/main" val="198833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March 6, 2026</a:t>
            </a:fld>
            <a:endParaRPr lang="en-US"/>
          </a:p>
        </p:txBody>
      </p:sp>
    </p:spTree>
    <p:extLst>
      <p:ext uri="{BB962C8B-B14F-4D97-AF65-F5344CB8AC3E}">
        <p14:creationId xmlns:p14="http://schemas.microsoft.com/office/powerpoint/2010/main" val="72853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March 6, 2026</a:t>
            </a:fld>
            <a:endParaRPr lang="en-US"/>
          </a:p>
        </p:txBody>
      </p:sp>
    </p:spTree>
    <p:extLst>
      <p:ext uri="{BB962C8B-B14F-4D97-AF65-F5344CB8AC3E}">
        <p14:creationId xmlns:p14="http://schemas.microsoft.com/office/powerpoint/2010/main" val="3982414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March 6, 2026</a:t>
            </a:fld>
            <a:endParaRPr lang="en-US"/>
          </a:p>
        </p:txBody>
      </p:sp>
    </p:spTree>
    <p:extLst>
      <p:ext uri="{BB962C8B-B14F-4D97-AF65-F5344CB8AC3E}">
        <p14:creationId xmlns:p14="http://schemas.microsoft.com/office/powerpoint/2010/main" val="3482342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March 6, 2026</a:t>
            </a:fld>
            <a:endParaRPr lang="en-US"/>
          </a:p>
        </p:txBody>
      </p:sp>
    </p:spTree>
    <p:extLst>
      <p:ext uri="{BB962C8B-B14F-4D97-AF65-F5344CB8AC3E}">
        <p14:creationId xmlns:p14="http://schemas.microsoft.com/office/powerpoint/2010/main" val="3451082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March 6, 2026</a:t>
            </a:fld>
            <a:endParaRPr lang="en-US"/>
          </a:p>
        </p:txBody>
      </p:sp>
    </p:spTree>
    <p:extLst>
      <p:ext uri="{BB962C8B-B14F-4D97-AF65-F5344CB8AC3E}">
        <p14:creationId xmlns:p14="http://schemas.microsoft.com/office/powerpoint/2010/main" val="4007767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March 6, 2026</a:t>
            </a:fld>
            <a:endParaRPr lang="en-US"/>
          </a:p>
        </p:txBody>
      </p:sp>
    </p:spTree>
    <p:extLst>
      <p:ext uri="{BB962C8B-B14F-4D97-AF65-F5344CB8AC3E}">
        <p14:creationId xmlns:p14="http://schemas.microsoft.com/office/powerpoint/2010/main" val="2766434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March 6, 2026</a:t>
            </a:fld>
            <a:endParaRPr lang="en-US"/>
          </a:p>
        </p:txBody>
      </p:sp>
    </p:spTree>
    <p:extLst>
      <p:ext uri="{BB962C8B-B14F-4D97-AF65-F5344CB8AC3E}">
        <p14:creationId xmlns:p14="http://schemas.microsoft.com/office/powerpoint/2010/main" val="977051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March 6, 2026</a:t>
            </a:fld>
            <a:endParaRPr lang="en-US"/>
          </a:p>
        </p:txBody>
      </p:sp>
    </p:spTree>
    <p:extLst>
      <p:ext uri="{BB962C8B-B14F-4D97-AF65-F5344CB8AC3E}">
        <p14:creationId xmlns:p14="http://schemas.microsoft.com/office/powerpoint/2010/main" val="3821228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March 6, 2026</a:t>
            </a:fld>
            <a:endParaRPr lang="en-US"/>
          </a:p>
        </p:txBody>
      </p:sp>
    </p:spTree>
    <p:extLst>
      <p:ext uri="{BB962C8B-B14F-4D97-AF65-F5344CB8AC3E}">
        <p14:creationId xmlns:p14="http://schemas.microsoft.com/office/powerpoint/2010/main" val="3705582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March 6, 2026</a:t>
            </a:fld>
            <a:endParaRPr lang="en-US"/>
          </a:p>
        </p:txBody>
      </p:sp>
    </p:spTree>
    <p:extLst>
      <p:ext uri="{BB962C8B-B14F-4D97-AF65-F5344CB8AC3E}">
        <p14:creationId xmlns:p14="http://schemas.microsoft.com/office/powerpoint/2010/main" val="16150291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March 6, 2026</a:t>
            </a:fld>
            <a:endParaRPr lang="en-US"/>
          </a:p>
        </p:txBody>
      </p:sp>
    </p:spTree>
    <p:extLst>
      <p:ext uri="{BB962C8B-B14F-4D97-AF65-F5344CB8AC3E}">
        <p14:creationId xmlns:p14="http://schemas.microsoft.com/office/powerpoint/2010/main" val="123274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March 6, 2026</a:t>
            </a:fld>
            <a:endParaRPr lang="en-US"/>
          </a:p>
        </p:txBody>
      </p:sp>
    </p:spTree>
    <p:extLst>
      <p:ext uri="{BB962C8B-B14F-4D97-AF65-F5344CB8AC3E}">
        <p14:creationId xmlns:p14="http://schemas.microsoft.com/office/powerpoint/2010/main" val="280954006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March 6, 2026</a:t>
            </a:fld>
            <a:endParaRPr lang="en-US"/>
          </a:p>
        </p:txBody>
      </p:sp>
    </p:spTree>
    <p:extLst>
      <p:ext uri="{BB962C8B-B14F-4D97-AF65-F5344CB8AC3E}">
        <p14:creationId xmlns:p14="http://schemas.microsoft.com/office/powerpoint/2010/main" val="26965471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March 6, 2026</a:t>
            </a:fld>
            <a:endParaRPr lang="en-US"/>
          </a:p>
        </p:txBody>
      </p:sp>
    </p:spTree>
    <p:extLst>
      <p:ext uri="{BB962C8B-B14F-4D97-AF65-F5344CB8AC3E}">
        <p14:creationId xmlns:p14="http://schemas.microsoft.com/office/powerpoint/2010/main" val="612284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March 6, 2026</a:t>
            </a:fld>
            <a:endParaRPr lang="en-US"/>
          </a:p>
        </p:txBody>
      </p:sp>
    </p:spTree>
    <p:extLst>
      <p:ext uri="{BB962C8B-B14F-4D97-AF65-F5344CB8AC3E}">
        <p14:creationId xmlns:p14="http://schemas.microsoft.com/office/powerpoint/2010/main" val="2174225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March 6, 2026</a:t>
            </a:fld>
            <a:endParaRPr lang="en-US"/>
          </a:p>
        </p:txBody>
      </p:sp>
    </p:spTree>
    <p:extLst>
      <p:ext uri="{BB962C8B-B14F-4D97-AF65-F5344CB8AC3E}">
        <p14:creationId xmlns:p14="http://schemas.microsoft.com/office/powerpoint/2010/main" val="54705388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March 6, 2026</a:t>
            </a:fld>
            <a:endParaRPr lang="en-US"/>
          </a:p>
        </p:txBody>
      </p:sp>
    </p:spTree>
    <p:extLst>
      <p:ext uri="{BB962C8B-B14F-4D97-AF65-F5344CB8AC3E}">
        <p14:creationId xmlns:p14="http://schemas.microsoft.com/office/powerpoint/2010/main" val="35703575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March 6, 2026</a:t>
            </a:fld>
            <a:endParaRPr lang="en-US"/>
          </a:p>
        </p:txBody>
      </p:sp>
    </p:spTree>
    <p:extLst>
      <p:ext uri="{BB962C8B-B14F-4D97-AF65-F5344CB8AC3E}">
        <p14:creationId xmlns:p14="http://schemas.microsoft.com/office/powerpoint/2010/main" val="318557736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March 6, 2026</a:t>
            </a:fld>
            <a:endParaRPr lang="en-US"/>
          </a:p>
        </p:txBody>
      </p:sp>
    </p:spTree>
    <p:extLst>
      <p:ext uri="{BB962C8B-B14F-4D97-AF65-F5344CB8AC3E}">
        <p14:creationId xmlns:p14="http://schemas.microsoft.com/office/powerpoint/2010/main" val="2893874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March 6,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87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March 6, 2026</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6138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March 6, 2026</a:t>
            </a:fld>
            <a:endParaRPr lang="en-US"/>
          </a:p>
        </p:txBody>
      </p:sp>
    </p:spTree>
    <p:extLst>
      <p:ext uri="{BB962C8B-B14F-4D97-AF65-F5344CB8AC3E}">
        <p14:creationId xmlns:p14="http://schemas.microsoft.com/office/powerpoint/2010/main" val="425028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March 6, 2026</a:t>
            </a:fld>
            <a:endParaRPr lang="en-US"/>
          </a:p>
        </p:txBody>
      </p:sp>
    </p:spTree>
    <p:extLst>
      <p:ext uri="{BB962C8B-B14F-4D97-AF65-F5344CB8AC3E}">
        <p14:creationId xmlns:p14="http://schemas.microsoft.com/office/powerpoint/2010/main" val="7560360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March 6, 2026</a:t>
            </a:fld>
            <a:endParaRPr lang="en-US"/>
          </a:p>
        </p:txBody>
      </p:sp>
    </p:spTree>
    <p:extLst>
      <p:ext uri="{BB962C8B-B14F-4D97-AF65-F5344CB8AC3E}">
        <p14:creationId xmlns:p14="http://schemas.microsoft.com/office/powerpoint/2010/main" val="2048023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March 6, 2026</a:t>
            </a:fld>
            <a:endParaRPr lang="en-US"/>
          </a:p>
        </p:txBody>
      </p:sp>
    </p:spTree>
    <p:extLst>
      <p:ext uri="{BB962C8B-B14F-4D97-AF65-F5344CB8AC3E}">
        <p14:creationId xmlns:p14="http://schemas.microsoft.com/office/powerpoint/2010/main" val="459542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March 6, 2026</a:t>
            </a:fld>
            <a:endParaRPr lang="en-US"/>
          </a:p>
        </p:txBody>
      </p:sp>
    </p:spTree>
    <p:extLst>
      <p:ext uri="{BB962C8B-B14F-4D97-AF65-F5344CB8AC3E}">
        <p14:creationId xmlns:p14="http://schemas.microsoft.com/office/powerpoint/2010/main" val="42620736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March 6, 2026</a:t>
            </a:fld>
            <a:endParaRPr lang="en-US"/>
          </a:p>
        </p:txBody>
      </p:sp>
    </p:spTree>
    <p:extLst>
      <p:ext uri="{BB962C8B-B14F-4D97-AF65-F5344CB8AC3E}">
        <p14:creationId xmlns:p14="http://schemas.microsoft.com/office/powerpoint/2010/main" val="12329197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March 6, 2026</a:t>
            </a:fld>
            <a:endParaRPr lang="en-US"/>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March 6, 2026</a:t>
            </a:fld>
            <a:endParaRPr lang="en-US"/>
          </a:p>
        </p:txBody>
      </p:sp>
    </p:spTree>
    <p:extLst>
      <p:ext uri="{BB962C8B-B14F-4D97-AF65-F5344CB8AC3E}">
        <p14:creationId xmlns:p14="http://schemas.microsoft.com/office/powerpoint/2010/main" val="35399855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March 6, 2026</a:t>
            </a:fld>
            <a:endParaRPr lang="en-US"/>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73" r:id="rId1"/>
    <p:sldLayoutId id="2147483882" r:id="rId2"/>
    <p:sldLayoutId id="2147483871" r:id="rId3"/>
    <p:sldLayoutId id="2147483872" r:id="rId4"/>
    <p:sldLayoutId id="2147483874" r:id="rId5"/>
    <p:sldLayoutId id="2147483867" r:id="rId6"/>
    <p:sldLayoutId id="2147483868" r:id="rId7"/>
    <p:sldLayoutId id="2147483869" r:id="rId8"/>
    <p:sldLayoutId id="2147483870" r:id="rId9"/>
    <p:sldLayoutId id="2147483875" r:id="rId10"/>
    <p:sldLayoutId id="2147483877" r:id="rId11"/>
    <p:sldLayoutId id="2147483878" r:id="rId12"/>
    <p:sldLayoutId id="2147483879"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28" r:id="rId37"/>
    <p:sldLayoutId id="2147483929" r:id="rId38"/>
    <p:sldLayoutId id="2147483930" r:id="rId39"/>
    <p:sldLayoutId id="2147483909" r:id="rId40"/>
    <p:sldLayoutId id="2147483910" r:id="rId41"/>
    <p:sldLayoutId id="2147483911" r:id="rId42"/>
    <p:sldLayoutId id="2147483924" r:id="rId43"/>
    <p:sldLayoutId id="2147483925" r:id="rId44"/>
    <p:sldLayoutId id="2147483926" r:id="rId45"/>
    <p:sldLayoutId id="2147483927" r:id="rId46"/>
    <p:sldLayoutId id="2147483916" r:id="rId47"/>
    <p:sldLayoutId id="2147483917" r:id="rId48"/>
    <p:sldLayoutId id="2147483918" r:id="rId49"/>
    <p:sldLayoutId id="2147483919" r:id="rId50"/>
    <p:sldLayoutId id="2147483920" r:id="rId51"/>
    <p:sldLayoutId id="2147483921" r:id="rId52"/>
    <p:sldLayoutId id="2147483922" r:id="rId53"/>
    <p:sldLayoutId id="2147483923"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EA8E0-13BD-0C67-42F9-D4EB76BDBE95}"/>
              </a:ext>
            </a:extLst>
          </p:cNvPr>
          <p:cNvSpPr>
            <a:spLocks noGrp="1"/>
          </p:cNvSpPr>
          <p:nvPr>
            <p:ph type="ctrTitle"/>
          </p:nvPr>
        </p:nvSpPr>
        <p:spPr>
          <a:xfrm>
            <a:off x="2286000" y="1746504"/>
            <a:ext cx="7616952" cy="1883664"/>
          </a:xfrm>
        </p:spPr>
        <p:txBody>
          <a:bodyPr anchor="ctr">
            <a:normAutofit/>
          </a:bodyPr>
          <a:lstStyle/>
          <a:p>
            <a:r>
              <a:rPr lang="en-US"/>
              <a:t>QA Test Strategy Presentation</a:t>
            </a:r>
          </a:p>
        </p:txBody>
      </p:sp>
      <p:sp>
        <p:nvSpPr>
          <p:cNvPr id="3" name="Subtitle 2">
            <a:extLst>
              <a:ext uri="{FF2B5EF4-FFF2-40B4-BE49-F238E27FC236}">
                <a16:creationId xmlns:a16="http://schemas.microsoft.com/office/drawing/2014/main" id="{75A393C2-98D6-AFA5-27D8-62A1C9E962F6}"/>
              </a:ext>
            </a:extLst>
          </p:cNvPr>
          <p:cNvSpPr>
            <a:spLocks noGrp="1"/>
          </p:cNvSpPr>
          <p:nvPr>
            <p:ph type="subTitle" idx="1"/>
          </p:nvPr>
        </p:nvSpPr>
        <p:spPr>
          <a:xfrm>
            <a:off x="2286000" y="4288536"/>
            <a:ext cx="7616952" cy="1042416"/>
          </a:xfrm>
        </p:spPr>
        <p:txBody>
          <a:bodyPr anchor="ctr">
            <a:normAutofit/>
          </a:bodyPr>
          <a:lstStyle/>
          <a:p>
            <a:r>
              <a:rPr lang="en-US"/>
              <a:t>Comprehensive approach to software quality assurance</a:t>
            </a:r>
          </a:p>
        </p:txBody>
      </p:sp>
    </p:spTree>
    <p:extLst>
      <p:ext uri="{BB962C8B-B14F-4D97-AF65-F5344CB8AC3E}">
        <p14:creationId xmlns:p14="http://schemas.microsoft.com/office/powerpoint/2010/main" val="3983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AEF5-A152-8B71-DC75-DFB1D462F1B6}"/>
              </a:ext>
            </a:extLst>
          </p:cNvPr>
          <p:cNvSpPr>
            <a:spLocks noGrp="1"/>
          </p:cNvSpPr>
          <p:nvPr>
            <p:ph type="ctrTitle"/>
          </p:nvPr>
        </p:nvSpPr>
        <p:spPr>
          <a:xfrm>
            <a:off x="992091" y="2514602"/>
            <a:ext cx="6812280" cy="3194302"/>
          </a:xfrm>
        </p:spPr>
        <p:txBody>
          <a:bodyPr anchor="b">
            <a:normAutofit/>
          </a:bodyPr>
          <a:lstStyle/>
          <a:p>
            <a:r>
              <a:rPr lang="en-US"/>
              <a:t>QA Strategy — WHY</a:t>
            </a:r>
          </a:p>
        </p:txBody>
      </p:sp>
    </p:spTree>
    <p:extLst>
      <p:ext uri="{BB962C8B-B14F-4D97-AF65-F5344CB8AC3E}">
        <p14:creationId xmlns:p14="http://schemas.microsoft.com/office/powerpoint/2010/main" val="1274228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B13AB-EEC3-9229-8B8A-C3CD992F923D}"/>
              </a:ext>
            </a:extLst>
          </p:cNvPr>
          <p:cNvSpPr>
            <a:spLocks noGrp="1"/>
          </p:cNvSpPr>
          <p:nvPr>
            <p:ph type="title"/>
          </p:nvPr>
        </p:nvSpPr>
        <p:spPr>
          <a:xfrm>
            <a:off x="612648" y="819477"/>
            <a:ext cx="4617720" cy="1197864"/>
          </a:xfrm>
        </p:spPr>
        <p:txBody>
          <a:bodyPr anchor="t">
            <a:normAutofit/>
          </a:bodyPr>
          <a:lstStyle/>
          <a:p>
            <a:r>
              <a:rPr lang="en-US"/>
              <a:t>Purpose of QA Strategy</a:t>
            </a:r>
          </a:p>
        </p:txBody>
      </p:sp>
      <p:pic>
        <p:nvPicPr>
          <p:cNvPr id="5" name="Content Placeholder 4" descr="Boxes On Rack In Warehouse">
            <a:extLst>
              <a:ext uri="{FF2B5EF4-FFF2-40B4-BE49-F238E27FC236}">
                <a16:creationId xmlns:a16="http://schemas.microsoft.com/office/drawing/2014/main" id="{66FBBB59-DE28-4403-B02E-970EFE3E7422}"/>
              </a:ext>
            </a:extLst>
          </p:cNvPr>
          <p:cNvPicPr>
            <a:picLocks noGrp="1" noChangeAspect="1"/>
          </p:cNvPicPr>
          <p:nvPr>
            <p:ph type="pic" sz="quarter" idx="18"/>
          </p:nvPr>
        </p:nvPicPr>
        <p:blipFill>
          <a:blip r:embed="rId3"/>
          <a:srcRect l="21373" r="11878"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F0486BAC-41AE-12CA-6EFA-1A900CD99CD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Ensure Accurate Pricing</a:t>
            </a:r>
          </a:p>
          <a:p>
            <a:pPr marL="0" lvl="1" indent="0">
              <a:buFont typeface="Arial" panose="020B0604020202020204" pitchFamily="34" charset="0"/>
              <a:buNone/>
            </a:pPr>
            <a:r>
              <a:t>QA strategy guarantees customers receive correct pricing to prevent payment errors and disputes.</a:t>
            </a:r>
            <a:endParaRPr lang="en-US"/>
          </a:p>
          <a:p>
            <a:pPr marL="0" indent="0">
              <a:spcBef>
                <a:spcPts val="2500"/>
              </a:spcBef>
              <a:buFont typeface="Arial" panose="020B0604020202020204" pitchFamily="34" charset="0"/>
              <a:buNone/>
            </a:pPr>
            <a:r>
              <a:rPr lang="en-US" b="1"/>
              <a:t>Inventory Visibility</a:t>
            </a:r>
          </a:p>
          <a:p>
            <a:pPr marL="0" lvl="1" indent="0">
              <a:buFont typeface="Arial" panose="020B0604020202020204" pitchFamily="34" charset="0"/>
              <a:buNone/>
            </a:pPr>
            <a:r>
              <a:t>Provides clear visibility into inventory to avoid synchronization failures and stock issues.</a:t>
            </a:r>
            <a:endParaRPr lang="en-US"/>
          </a:p>
          <a:p>
            <a:pPr marL="0" indent="0">
              <a:spcBef>
                <a:spcPts val="2500"/>
              </a:spcBef>
              <a:buFont typeface="Arial" panose="020B0604020202020204" pitchFamily="34" charset="0"/>
              <a:buNone/>
            </a:pPr>
            <a:r>
              <a:rPr lang="en-US" b="1"/>
              <a:t>Reliable Fulfillment Process</a:t>
            </a:r>
          </a:p>
          <a:p>
            <a:pPr marL="0" lvl="1" indent="0">
              <a:buFont typeface="Arial" panose="020B0604020202020204" pitchFamily="34" charset="0"/>
              <a:buNone/>
            </a:pPr>
            <a:r>
              <a:t>Reduces risks of flawed order fulfillment, protecting business reputation and customer satisfaction.</a:t>
            </a:r>
            <a:endParaRPr lang="en-US"/>
          </a:p>
          <a:p>
            <a:pPr marL="0" indent="0">
              <a:spcBef>
                <a:spcPts val="2500"/>
              </a:spcBef>
              <a:buFont typeface="Arial" panose="020B0604020202020204" pitchFamily="34" charset="0"/>
              <a:buNone/>
            </a:pPr>
            <a:r>
              <a:rPr lang="en-US" b="1"/>
              <a:t>Support Safety-Critical Products</a:t>
            </a:r>
          </a:p>
          <a:p>
            <a:pPr marL="0" lvl="1" indent="0">
              <a:buFont typeface="Arial" panose="020B0604020202020204" pitchFamily="34" charset="0"/>
              <a:buNone/>
            </a:pPr>
            <a:r>
              <a:t>Prevents errors that could impact product quality and safety for motorcycles and accessories.</a:t>
            </a:r>
            <a:endParaRPr lang="en-US"/>
          </a:p>
        </p:txBody>
      </p:sp>
    </p:spTree>
    <p:extLst>
      <p:ext uri="{BB962C8B-B14F-4D97-AF65-F5344CB8AC3E}">
        <p14:creationId xmlns:p14="http://schemas.microsoft.com/office/powerpoint/2010/main" val="41993352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58B5-9F17-2BA9-3455-D4685E0F42A1}"/>
              </a:ext>
            </a:extLst>
          </p:cNvPr>
          <p:cNvSpPr>
            <a:spLocks noGrp="1"/>
          </p:cNvSpPr>
          <p:nvPr>
            <p:ph type="ctrTitle"/>
          </p:nvPr>
        </p:nvSpPr>
        <p:spPr>
          <a:xfrm>
            <a:off x="992091" y="2514602"/>
            <a:ext cx="6812280" cy="3194302"/>
          </a:xfrm>
        </p:spPr>
        <p:txBody>
          <a:bodyPr anchor="b">
            <a:normAutofit/>
          </a:bodyPr>
          <a:lstStyle/>
          <a:p>
            <a:r>
              <a:rPr lang="en-US"/>
              <a:t>Test Approach (Principles &amp; Levels)</a:t>
            </a:r>
          </a:p>
        </p:txBody>
      </p:sp>
    </p:spTree>
    <p:extLst>
      <p:ext uri="{BB962C8B-B14F-4D97-AF65-F5344CB8AC3E}">
        <p14:creationId xmlns:p14="http://schemas.microsoft.com/office/powerpoint/2010/main" val="926883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1F70-8E95-664F-512C-A3AB6E566DEA}"/>
              </a:ext>
            </a:extLst>
          </p:cNvPr>
          <p:cNvSpPr>
            <a:spLocks noGrp="1"/>
          </p:cNvSpPr>
          <p:nvPr>
            <p:ph type="title"/>
          </p:nvPr>
        </p:nvSpPr>
        <p:spPr>
          <a:xfrm>
            <a:off x="612647" y="256032"/>
            <a:ext cx="6949439" cy="1124712"/>
          </a:xfrm>
        </p:spPr>
        <p:txBody>
          <a:bodyPr anchor="b">
            <a:normAutofit/>
          </a:bodyPr>
          <a:lstStyle/>
          <a:p>
            <a:r>
              <a:rPr lang="en-US"/>
              <a:t>Principles</a:t>
            </a:r>
          </a:p>
        </p:txBody>
      </p:sp>
      <p:sp>
        <p:nvSpPr>
          <p:cNvPr id="4" name="Content Placeholder 3">
            <a:extLst>
              <a:ext uri="{FF2B5EF4-FFF2-40B4-BE49-F238E27FC236}">
                <a16:creationId xmlns:a16="http://schemas.microsoft.com/office/drawing/2014/main" id="{9CDD9931-3072-CB8B-6A60-DC4F52064A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1755648"/>
            <a:ext cx="6949440" cy="4343400"/>
          </a:xfrm>
        </p:spPr>
        <p:txBody>
          <a:bodyPr>
            <a:normAutofit/>
          </a:bodyPr>
          <a:lstStyle/>
          <a:p>
            <a:pPr marL="0" indent="0">
              <a:lnSpc>
                <a:spcPct val="120000"/>
              </a:lnSpc>
              <a:spcBef>
                <a:spcPts val="2500"/>
              </a:spcBef>
              <a:buFont typeface="Arial" panose="020B0604020202020204" pitchFamily="34" charset="0"/>
              <a:buNone/>
            </a:pPr>
            <a:r>
              <a:rPr lang="en-US" sz="1300" b="1"/>
              <a:t>Fast Feedback Testing</a:t>
            </a:r>
          </a:p>
          <a:p>
            <a:pPr marL="0" lvl="1" indent="0">
              <a:lnSpc>
                <a:spcPct val="120000"/>
              </a:lnSpc>
              <a:buFont typeface="Arial" panose="020B0604020202020204" pitchFamily="34" charset="0"/>
              <a:buNone/>
            </a:pPr>
            <a:r>
              <a:rPr lang="en-US" sz="1300"/>
              <a:t>Testing maximizes feedback speed by validating logic at unit and API levels with pull request checks in ten minutes.</a:t>
            </a:r>
          </a:p>
          <a:p>
            <a:pPr marL="0" indent="0">
              <a:lnSpc>
                <a:spcPct val="120000"/>
              </a:lnSpc>
              <a:spcBef>
                <a:spcPts val="2500"/>
              </a:spcBef>
              <a:buFont typeface="Arial" panose="020B0604020202020204" pitchFamily="34" charset="0"/>
              <a:buNone/>
            </a:pPr>
            <a:r>
              <a:rPr lang="en-US" sz="1300" b="1"/>
              <a:t>Architecture-aligned Testing</a:t>
            </a:r>
          </a:p>
          <a:p>
            <a:pPr marL="0" lvl="1" indent="0">
              <a:lnSpc>
                <a:spcPct val="120000"/>
              </a:lnSpc>
              <a:buFont typeface="Arial" panose="020B0604020202020204" pitchFamily="34" charset="0"/>
              <a:buNone/>
            </a:pPr>
            <a:r>
              <a:rPr lang="en-US" sz="1300"/>
              <a:t>Testing aligns to architectural boundaries to detect defects across frontend, backend-for-frontend, and backend services effectively.</a:t>
            </a:r>
          </a:p>
          <a:p>
            <a:pPr marL="0" indent="0">
              <a:lnSpc>
                <a:spcPct val="120000"/>
              </a:lnSpc>
              <a:spcBef>
                <a:spcPts val="2500"/>
              </a:spcBef>
              <a:buFont typeface="Arial" panose="020B0604020202020204" pitchFamily="34" charset="0"/>
              <a:buNone/>
            </a:pPr>
            <a:r>
              <a:rPr lang="en-US" sz="1300" b="1"/>
              <a:t>Risk-based Prioritization</a:t>
            </a:r>
          </a:p>
          <a:p>
            <a:pPr marL="0" lvl="1" indent="0">
              <a:lnSpc>
                <a:spcPct val="120000"/>
              </a:lnSpc>
              <a:buFont typeface="Arial" panose="020B0604020202020204" pitchFamily="34" charset="0"/>
              <a:buNone/>
            </a:pPr>
            <a:r>
              <a:rPr lang="en-US" sz="1300"/>
              <a:t>Testing prioritizes critical areas like pricing accuracy, inventory, payment flows, and accessory compatibility based on risk.</a:t>
            </a:r>
          </a:p>
          <a:p>
            <a:pPr marL="0" indent="0">
              <a:lnSpc>
                <a:spcPct val="120000"/>
              </a:lnSpc>
              <a:spcBef>
                <a:spcPts val="2500"/>
              </a:spcBef>
              <a:buFont typeface="Arial" panose="020B0604020202020204" pitchFamily="34" charset="0"/>
              <a:buNone/>
            </a:pPr>
            <a:r>
              <a:rPr lang="en-US" sz="1300" b="1"/>
              <a:t>Selective End-to-End and Integration</a:t>
            </a:r>
          </a:p>
          <a:p>
            <a:pPr marL="0" lvl="1" indent="0">
              <a:lnSpc>
                <a:spcPct val="120000"/>
              </a:lnSpc>
              <a:buFont typeface="Arial" panose="020B0604020202020204" pitchFamily="34" charset="0"/>
              <a:buNone/>
            </a:pPr>
            <a:r>
              <a:rPr lang="en-US" sz="1300"/>
              <a:t>End-to-end tests focus on purchase-critical flows; integration tests ensure reliable payment and warehouse processes.</a:t>
            </a:r>
          </a:p>
        </p:txBody>
      </p:sp>
      <p:pic>
        <p:nvPicPr>
          <p:cNvPr id="5" name="Content Placeholder 4" descr="3d illustration">
            <a:extLst>
              <a:ext uri="{FF2B5EF4-FFF2-40B4-BE49-F238E27FC236}">
                <a16:creationId xmlns:a16="http://schemas.microsoft.com/office/drawing/2014/main" id="{DC5A6FA5-8B70-4DC1-BAFC-B46FB6D7EA6E}"/>
              </a:ext>
            </a:extLst>
          </p:cNvPr>
          <p:cNvPicPr>
            <a:picLocks noGrp="1" noChangeAspect="1"/>
          </p:cNvPicPr>
          <p:nvPr>
            <p:ph type="pic" sz="quarter" idx="18"/>
          </p:nvPr>
        </p:nvPicPr>
        <p:blipFill>
          <a:blip r:embed="rId3"/>
          <a:srcRect l="11933" r="26144" b="-3"/>
          <a:stretch>
            <a:fillRect/>
          </a:stretch>
        </p:blipFill>
        <p:spPr>
          <a:xfrm>
            <a:off x="8129016" y="758952"/>
            <a:ext cx="3300984" cy="5330952"/>
          </a:xfrm>
        </p:spPr>
      </p:pic>
    </p:spTree>
    <p:extLst>
      <p:ext uri="{BB962C8B-B14F-4D97-AF65-F5344CB8AC3E}">
        <p14:creationId xmlns:p14="http://schemas.microsoft.com/office/powerpoint/2010/main" val="39050163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EC5E6-A41B-F6BC-4E86-CEA6645167B4}"/>
              </a:ext>
            </a:extLst>
          </p:cNvPr>
          <p:cNvSpPr>
            <a:spLocks noGrp="1"/>
          </p:cNvSpPr>
          <p:nvPr>
            <p:ph type="title"/>
          </p:nvPr>
        </p:nvSpPr>
        <p:spPr>
          <a:xfrm>
            <a:off x="612648" y="819477"/>
            <a:ext cx="4617720" cy="1197864"/>
          </a:xfrm>
        </p:spPr>
        <p:txBody>
          <a:bodyPr anchor="t">
            <a:normAutofit/>
          </a:bodyPr>
          <a:lstStyle/>
          <a:p>
            <a:r>
              <a:rPr lang="en-US"/>
              <a:t>Test Levels</a:t>
            </a:r>
          </a:p>
        </p:txBody>
      </p:sp>
      <p:pic>
        <p:nvPicPr>
          <p:cNvPr id="5" name="Content Placeholder 4" descr="abstract programm binary code  and colored array cube Database">
            <a:extLst>
              <a:ext uri="{FF2B5EF4-FFF2-40B4-BE49-F238E27FC236}">
                <a16:creationId xmlns:a16="http://schemas.microsoft.com/office/drawing/2014/main" id="{2407EE3B-D317-43D5-B6C2-FE39FD8B5749}"/>
              </a:ext>
            </a:extLst>
          </p:cNvPr>
          <p:cNvPicPr>
            <a:picLocks noGrp="1" noChangeAspect="1"/>
          </p:cNvPicPr>
          <p:nvPr>
            <p:ph type="pic" sz="quarter" idx="18"/>
          </p:nvPr>
        </p:nvPicPr>
        <p:blipFill>
          <a:blip r:embed="rId3"/>
          <a:srcRect l="38999" r="3" b="3"/>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028FBB3E-83B4-4F19-3951-7477C3A908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Unit Testing</a:t>
            </a:r>
          </a:p>
          <a:p>
            <a:pPr marL="0" lvl="1" indent="0">
              <a:buFont typeface="Arial" panose="020B0604020202020204" pitchFamily="34" charset="0"/>
              <a:buNone/>
            </a:pPr>
            <a:r>
              <a:t>Unit tests validate pricing, compatibility logic, and individual services in isolation to ensure their correctness.</a:t>
            </a:r>
            <a:endParaRPr lang="en-US"/>
          </a:p>
          <a:p>
            <a:pPr marL="0" indent="0">
              <a:spcBef>
                <a:spcPts val="2500"/>
              </a:spcBef>
              <a:buFont typeface="Arial" panose="020B0604020202020204" pitchFamily="34" charset="0"/>
              <a:buNone/>
            </a:pPr>
            <a:r>
              <a:rPr lang="en-US" b="1"/>
              <a:t>API and Service Testing</a:t>
            </a:r>
          </a:p>
          <a:p>
            <a:pPr marL="0" lvl="1" indent="0">
              <a:buFont typeface="Arial" panose="020B0604020202020204" pitchFamily="34" charset="0"/>
              <a:buNone/>
            </a:pPr>
            <a:r>
              <a:t>Tests at API and service levels ensure proper functioning of catalog, orders, inventory, and payment services.</a:t>
            </a:r>
            <a:endParaRPr lang="en-US"/>
          </a:p>
          <a:p>
            <a:pPr marL="0" indent="0">
              <a:spcBef>
                <a:spcPts val="2500"/>
              </a:spcBef>
              <a:buFont typeface="Arial" panose="020B0604020202020204" pitchFamily="34" charset="0"/>
              <a:buNone/>
            </a:pPr>
            <a:r>
              <a:rPr lang="en-US" b="1"/>
              <a:t>Integration Testing</a:t>
            </a:r>
          </a:p>
          <a:p>
            <a:pPr marL="0" lvl="1" indent="0">
              <a:buFont typeface="Arial" panose="020B0604020202020204" pitchFamily="34" charset="0"/>
              <a:buNone/>
            </a:pPr>
            <a:r>
              <a:t>Integration tests verify boundaries between frontend, API gateways, backend services, and warehouse systems.</a:t>
            </a:r>
            <a:endParaRPr lang="en-US"/>
          </a:p>
          <a:p>
            <a:pPr marL="0" indent="0">
              <a:spcBef>
                <a:spcPts val="2500"/>
              </a:spcBef>
              <a:buFont typeface="Arial" panose="020B0604020202020204" pitchFamily="34" charset="0"/>
              <a:buNone/>
            </a:pPr>
            <a:r>
              <a:rPr lang="en-US" b="1"/>
              <a:t>End-to-End and Regression Testing</a:t>
            </a:r>
          </a:p>
          <a:p>
            <a:pPr marL="0" lvl="1" indent="0">
              <a:buFont typeface="Arial" panose="020B0604020202020204" pitchFamily="34" charset="0"/>
              <a:buNone/>
            </a:pPr>
            <a:r>
              <a:t>End-to-end tests simulate customer journeys; regression tests check cross-service workflows for potential issues.</a:t>
            </a:r>
            <a:endParaRPr lang="en-US"/>
          </a:p>
        </p:txBody>
      </p:sp>
    </p:spTree>
    <p:extLst>
      <p:ext uri="{BB962C8B-B14F-4D97-AF65-F5344CB8AC3E}">
        <p14:creationId xmlns:p14="http://schemas.microsoft.com/office/powerpoint/2010/main" val="16536518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A96AE-8CBF-AF5D-8E95-A7FAC82DA5DD}"/>
              </a:ext>
            </a:extLst>
          </p:cNvPr>
          <p:cNvSpPr>
            <a:spLocks noGrp="1"/>
          </p:cNvSpPr>
          <p:nvPr>
            <p:ph type="ctrTitle"/>
          </p:nvPr>
        </p:nvSpPr>
        <p:spPr>
          <a:xfrm>
            <a:off x="992091" y="2514602"/>
            <a:ext cx="6812280" cy="3194302"/>
          </a:xfrm>
        </p:spPr>
        <p:txBody>
          <a:bodyPr anchor="b">
            <a:normAutofit/>
          </a:bodyPr>
          <a:lstStyle/>
          <a:p>
            <a:r>
              <a:rPr lang="en-US"/>
              <a:t>Boundaries &amp; Scope</a:t>
            </a:r>
          </a:p>
        </p:txBody>
      </p:sp>
    </p:spTree>
    <p:extLst>
      <p:ext uri="{BB962C8B-B14F-4D97-AF65-F5344CB8AC3E}">
        <p14:creationId xmlns:p14="http://schemas.microsoft.com/office/powerpoint/2010/main" val="25915423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22940-8AF3-67E1-5F0B-213F11FA6A17}"/>
              </a:ext>
            </a:extLst>
          </p:cNvPr>
          <p:cNvSpPr>
            <a:spLocks noGrp="1"/>
          </p:cNvSpPr>
          <p:nvPr>
            <p:ph type="title"/>
          </p:nvPr>
        </p:nvSpPr>
        <p:spPr>
          <a:xfrm>
            <a:off x="1124711" y="1042416"/>
            <a:ext cx="8778239" cy="859536"/>
          </a:xfrm>
        </p:spPr>
        <p:txBody>
          <a:bodyPr anchor="b">
            <a:normAutofit/>
          </a:bodyPr>
          <a:lstStyle/>
          <a:p>
            <a:r>
              <a:rPr lang="en-US"/>
              <a:t>Test Object Boundaries</a:t>
            </a:r>
          </a:p>
        </p:txBody>
      </p:sp>
      <p:graphicFrame>
        <p:nvGraphicFramePr>
          <p:cNvPr id="5" name="Content Placeholder 4">
            <a:extLst>
              <a:ext uri="{FF2B5EF4-FFF2-40B4-BE49-F238E27FC236}">
                <a16:creationId xmlns:a16="http://schemas.microsoft.com/office/drawing/2014/main" id="{B8134856-5DBB-48E2-97FC-054FC04199E7}"/>
              </a:ext>
            </a:extLst>
          </p:cNvPr>
          <p:cNvGraphicFramePr>
            <a:graphicFrameLocks noGrp="1"/>
          </p:cNvGraphicFramePr>
          <p:nvPr>
            <p:ph sz="quarter" idx="13"/>
          </p:nvPr>
        </p:nvGraphicFramePr>
        <p:xfrm>
          <a:off x="1124712" y="2550258"/>
          <a:ext cx="8778240" cy="3330256"/>
        </p:xfrm>
        <a:graphic>
          <a:graphicData uri="http://schemas.openxmlformats.org/drawingml/2006/table">
            <a:tbl>
              <a:tblPr firstRow="1" bandRow="1">
                <a:noFill/>
                <a:tableStyleId>{5C22544A-7EE6-4342-B048-85BDC9FD1C3A}</a:tableStyleId>
              </a:tblPr>
              <a:tblGrid>
                <a:gridCol w="2233248">
                  <a:extLst>
                    <a:ext uri="{9D8B030D-6E8A-4147-A177-3AD203B41FA5}">
                      <a16:colId xmlns:a16="http://schemas.microsoft.com/office/drawing/2014/main" val="1610593234"/>
                    </a:ext>
                  </a:extLst>
                </a:gridCol>
                <a:gridCol w="2181664">
                  <a:extLst>
                    <a:ext uri="{9D8B030D-6E8A-4147-A177-3AD203B41FA5}">
                      <a16:colId xmlns:a16="http://schemas.microsoft.com/office/drawing/2014/main" val="1928004904"/>
                    </a:ext>
                  </a:extLst>
                </a:gridCol>
                <a:gridCol w="2181664">
                  <a:extLst>
                    <a:ext uri="{9D8B030D-6E8A-4147-A177-3AD203B41FA5}">
                      <a16:colId xmlns:a16="http://schemas.microsoft.com/office/drawing/2014/main" val="967367908"/>
                    </a:ext>
                  </a:extLst>
                </a:gridCol>
                <a:gridCol w="2181664">
                  <a:extLst>
                    <a:ext uri="{9D8B030D-6E8A-4147-A177-3AD203B41FA5}">
                      <a16:colId xmlns:a16="http://schemas.microsoft.com/office/drawing/2014/main" val="2175834334"/>
                    </a:ext>
                  </a:extLst>
                </a:gridCol>
              </a:tblGrid>
              <a:tr h="399280">
                <a:tc>
                  <a:txBody>
                    <a:bodyPr/>
                    <a:lstStyle/>
                    <a:p>
                      <a:pPr>
                        <a:buNone/>
                      </a:pPr>
                      <a:r>
                        <a:rPr lang="en-US" sz="1200" b="1" cap="all" spc="150">
                          <a:solidFill>
                            <a:schemeClr val="tx1"/>
                          </a:solidFill>
                        </a:rPr>
                        <a:t>Test Object</a:t>
                      </a:r>
                    </a:p>
                  </a:txBody>
                  <a:tcPr marL="98723" marR="98723" marT="98723" marB="9872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200" b="1" cap="all" spc="150">
                          <a:solidFill>
                            <a:schemeClr val="tx1"/>
                          </a:solidFill>
                        </a:rPr>
                        <a:t>Test Level</a:t>
                      </a:r>
                    </a:p>
                  </a:txBody>
                  <a:tcPr marL="98723" marR="98723" marT="98723" marB="9872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200" b="1" cap="all" spc="150">
                          <a:solidFill>
                            <a:schemeClr val="tx1"/>
                          </a:solidFill>
                        </a:rPr>
                        <a:t>When</a:t>
                      </a:r>
                    </a:p>
                  </a:txBody>
                  <a:tcPr marL="98723" marR="98723" marT="98723" marB="9872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200" b="1" cap="all" spc="150">
                          <a:solidFill>
                            <a:schemeClr val="tx1"/>
                          </a:solidFill>
                        </a:rPr>
                        <a:t>Env</a:t>
                      </a:r>
                    </a:p>
                  </a:txBody>
                  <a:tcPr marL="98723" marR="98723" marT="98723" marB="98723"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2231885446"/>
                  </a:ext>
                </a:extLst>
              </a:tr>
              <a:tr h="366372">
                <a:tc>
                  <a:txBody>
                    <a:bodyPr/>
                    <a:lstStyle/>
                    <a:p>
                      <a:pPr>
                        <a:buNone/>
                      </a:pPr>
                      <a:r>
                        <a:rPr lang="en-US" sz="900" b="1" cap="none" spc="0">
                          <a:solidFill>
                            <a:schemeClr val="tx1"/>
                          </a:solidFill>
                        </a:rPr>
                        <a:t>Web UI (React SPA)</a:t>
                      </a:r>
                    </a:p>
                  </a:txBody>
                  <a:tcPr marL="98723" marR="98723" marT="98723" marB="9872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900" cap="none" spc="0">
                          <a:solidFill>
                            <a:schemeClr val="tx1"/>
                          </a:solidFill>
                        </a:rPr>
                        <a:t>Unit / Integration</a:t>
                      </a:r>
                    </a:p>
                  </a:txBody>
                  <a:tcPr marL="98723" marR="98723" marT="98723" marB="9872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900" cap="none" spc="0">
                          <a:solidFill>
                            <a:schemeClr val="tx1"/>
                          </a:solidFill>
                        </a:rPr>
                        <a:t>PR, nightly</a:t>
                      </a:r>
                    </a:p>
                  </a:txBody>
                  <a:tcPr marL="98723" marR="98723" marT="98723" marB="9872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900" cap="none" spc="0">
                          <a:solidFill>
                            <a:schemeClr val="tx1"/>
                          </a:solidFill>
                        </a:rPr>
                        <a:t>local, preview</a:t>
                      </a:r>
                    </a:p>
                  </a:txBody>
                  <a:tcPr marL="98723" marR="98723" marT="98723" marB="9872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2249771648"/>
                  </a:ext>
                </a:extLst>
              </a:tr>
              <a:tr h="366372">
                <a:tc>
                  <a:txBody>
                    <a:bodyPr/>
                    <a:lstStyle/>
                    <a:p>
                      <a:pPr>
                        <a:buNone/>
                      </a:pPr>
                      <a:r>
                        <a:rPr lang="en-US" sz="900" b="1" cap="none" spc="0">
                          <a:solidFill>
                            <a:schemeClr val="tx1"/>
                          </a:solidFill>
                        </a:rPr>
                        <a:t>API Gateway / BFF</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Unit / API</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PR, deployment</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local, preview</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610039848"/>
                  </a:ext>
                </a:extLst>
              </a:tr>
              <a:tr h="366372">
                <a:tc>
                  <a:txBody>
                    <a:bodyPr/>
                    <a:lstStyle/>
                    <a:p>
                      <a:pPr>
                        <a:buNone/>
                      </a:pPr>
                      <a:r>
                        <a:rPr lang="en-US" sz="900" b="1" cap="none" spc="0">
                          <a:solidFill>
                            <a:schemeClr val="tx1"/>
                          </a:solidFill>
                        </a:rPr>
                        <a:t>Catalog Service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Unit / API / Integration</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PR, deployment, nightly</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local, preview, stage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611593572"/>
                  </a:ext>
                </a:extLst>
              </a:tr>
              <a:tr h="366372">
                <a:tc>
                  <a:txBody>
                    <a:bodyPr/>
                    <a:lstStyle/>
                    <a:p>
                      <a:pPr>
                        <a:buNone/>
                      </a:pPr>
                      <a:r>
                        <a:rPr lang="en-US" sz="900" b="1" cap="none" spc="0">
                          <a:solidFill>
                            <a:schemeClr val="tx1"/>
                          </a:solidFill>
                        </a:rPr>
                        <a:t>Order &amp; Checkout Service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Unit / API / Integration</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PR, deployment, nightly</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local, preview, stage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955271126"/>
                  </a:ext>
                </a:extLst>
              </a:tr>
              <a:tr h="366372">
                <a:tc>
                  <a:txBody>
                    <a:bodyPr/>
                    <a:lstStyle/>
                    <a:p>
                      <a:pPr>
                        <a:buNone/>
                      </a:pPr>
                      <a:r>
                        <a:rPr lang="en-US" sz="900" b="1" cap="none" spc="0">
                          <a:solidFill>
                            <a:schemeClr val="tx1"/>
                          </a:solidFill>
                        </a:rPr>
                        <a:t>Inventory Sync Service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API / Integration</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deployment, nightly</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preview, stage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512207907"/>
                  </a:ext>
                </a:extLst>
              </a:tr>
              <a:tr h="366372">
                <a:tc>
                  <a:txBody>
                    <a:bodyPr/>
                    <a:lstStyle/>
                    <a:p>
                      <a:pPr>
                        <a:buNone/>
                      </a:pPr>
                      <a:r>
                        <a:rPr lang="en-US" sz="900" b="1" cap="none" spc="0">
                          <a:solidFill>
                            <a:schemeClr val="tx1"/>
                          </a:solidFill>
                        </a:rPr>
                        <a:t>Compatibility Rules Engine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Unit / API</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PR, deployment</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local, preview</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598433960"/>
                  </a:ext>
                </a:extLst>
              </a:tr>
              <a:tr h="366372">
                <a:tc>
                  <a:txBody>
                    <a:bodyPr/>
                    <a:lstStyle/>
                    <a:p>
                      <a:pPr>
                        <a:buNone/>
                      </a:pPr>
                      <a:r>
                        <a:rPr lang="en-US" sz="900" b="1" cap="none" spc="0">
                          <a:solidFill>
                            <a:schemeClr val="tx1"/>
                          </a:solidFill>
                        </a:rPr>
                        <a:t>Payment Provider Integration</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Integration / E2E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deployment, nightly, release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preview (mock), stage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776738868"/>
                  </a:ext>
                </a:extLst>
              </a:tr>
              <a:tr h="366372">
                <a:tc>
                  <a:txBody>
                    <a:bodyPr/>
                    <a:lstStyle/>
                    <a:p>
                      <a:pPr>
                        <a:buNone/>
                      </a:pPr>
                      <a:r>
                        <a:rPr lang="en-US" sz="900" b="1" cap="none" spc="0">
                          <a:solidFill>
                            <a:schemeClr val="tx1"/>
                          </a:solidFill>
                        </a:rPr>
                        <a:t>Warehouse Integration</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Integration / E2E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nightly, release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900" cap="none" spc="0">
                          <a:solidFill>
                            <a:schemeClr val="tx1"/>
                          </a:solidFill>
                        </a:rPr>
                        <a:t>preview (mock), stage</a:t>
                      </a:r>
                    </a:p>
                  </a:txBody>
                  <a:tcPr marL="98723" marR="98723" marT="98723" marB="9872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836934378"/>
                  </a:ext>
                </a:extLst>
              </a:tr>
            </a:tbl>
          </a:graphicData>
        </a:graphic>
      </p:graphicFrame>
    </p:spTree>
    <p:extLst>
      <p:ext uri="{BB962C8B-B14F-4D97-AF65-F5344CB8AC3E}">
        <p14:creationId xmlns:p14="http://schemas.microsoft.com/office/powerpoint/2010/main" val="268802731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6677-2F1A-3F64-2B9A-111C0453A15A}"/>
              </a:ext>
            </a:extLst>
          </p:cNvPr>
          <p:cNvSpPr>
            <a:spLocks noGrp="1"/>
          </p:cNvSpPr>
          <p:nvPr>
            <p:ph type="ctrTitle"/>
          </p:nvPr>
        </p:nvSpPr>
        <p:spPr>
          <a:xfrm>
            <a:off x="992091" y="2514602"/>
            <a:ext cx="6812280" cy="3194302"/>
          </a:xfrm>
        </p:spPr>
        <p:txBody>
          <a:bodyPr anchor="b">
            <a:normAutofit/>
          </a:bodyPr>
          <a:lstStyle/>
          <a:p>
            <a:r>
              <a:rPr lang="en-US"/>
              <a:t>Test Lifecycle</a:t>
            </a:r>
          </a:p>
        </p:txBody>
      </p:sp>
    </p:spTree>
    <p:extLst>
      <p:ext uri="{BB962C8B-B14F-4D97-AF65-F5344CB8AC3E}">
        <p14:creationId xmlns:p14="http://schemas.microsoft.com/office/powerpoint/2010/main" val="1403362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FD89-FAEC-5CA8-1742-3DAA5C0E0BE7}"/>
              </a:ext>
            </a:extLst>
          </p:cNvPr>
          <p:cNvSpPr>
            <a:spLocks noGrp="1"/>
          </p:cNvSpPr>
          <p:nvPr>
            <p:ph type="title"/>
          </p:nvPr>
        </p:nvSpPr>
        <p:spPr>
          <a:xfrm>
            <a:off x="612648" y="819477"/>
            <a:ext cx="4617720" cy="1197864"/>
          </a:xfrm>
        </p:spPr>
        <p:txBody>
          <a:bodyPr anchor="t">
            <a:normAutofit/>
          </a:bodyPr>
          <a:lstStyle/>
          <a:p>
            <a:r>
              <a:rPr lang="en-US"/>
              <a:t>Lifecycle Overview</a:t>
            </a:r>
          </a:p>
        </p:txBody>
      </p:sp>
      <p:pic>
        <p:nvPicPr>
          <p:cNvPr id="5" name="Content Placeholder 4" descr="Turning arrows around figures representing business people linked to each other. Business promotion concept.">
            <a:extLst>
              <a:ext uri="{FF2B5EF4-FFF2-40B4-BE49-F238E27FC236}">
                <a16:creationId xmlns:a16="http://schemas.microsoft.com/office/drawing/2014/main" id="{2F63B283-85C1-4B8A-B4B2-5ECF38CB68B5}"/>
              </a:ext>
            </a:extLst>
          </p:cNvPr>
          <p:cNvPicPr>
            <a:picLocks noGrp="1" noChangeAspect="1"/>
          </p:cNvPicPr>
          <p:nvPr>
            <p:ph type="pic" sz="quarter" idx="18"/>
          </p:nvPr>
        </p:nvPicPr>
        <p:blipFill>
          <a:blip r:embed="rId3"/>
          <a:srcRect l="5565" r="185"/>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4FCC40D7-AE98-4132-8833-FA96E98CD9A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Scope Definition</a:t>
            </a:r>
          </a:p>
          <a:p>
            <a:pPr marL="0" lvl="1" indent="0">
              <a:buFont typeface="Arial" panose="020B0604020202020204" pitchFamily="34" charset="0"/>
              <a:buNone/>
            </a:pPr>
            <a:r>
              <a:t>Defines service logic, API boundaries, and critical value flows by developers, SDETs, QA, and product owners.</a:t>
            </a:r>
            <a:endParaRPr lang="en-US"/>
          </a:p>
          <a:p>
            <a:pPr marL="0" indent="0">
              <a:spcBef>
                <a:spcPts val="2500"/>
              </a:spcBef>
              <a:buFont typeface="Arial" panose="020B0604020202020204" pitchFamily="34" charset="0"/>
              <a:buNone/>
            </a:pPr>
            <a:r>
              <a:rPr lang="en-US" b="1"/>
              <a:t>Test Development</a:t>
            </a:r>
          </a:p>
          <a:p>
            <a:pPr marL="0" lvl="1" indent="0">
              <a:buFont typeface="Arial" panose="020B0604020202020204" pitchFamily="34" charset="0"/>
              <a:buNone/>
            </a:pPr>
            <a:r>
              <a:t>Developers build unit and API tests while SDETs create component and end-to-end test scenarios.</a:t>
            </a:r>
            <a:endParaRPr lang="en-US"/>
          </a:p>
          <a:p>
            <a:pPr marL="0" indent="0">
              <a:spcBef>
                <a:spcPts val="2500"/>
              </a:spcBef>
              <a:buFont typeface="Arial" panose="020B0604020202020204" pitchFamily="34" charset="0"/>
              <a:buNone/>
            </a:pPr>
            <a:r>
              <a:rPr lang="en-US" b="1"/>
              <a:t>Analysis and Troubleshooting</a:t>
            </a:r>
          </a:p>
          <a:p>
            <a:pPr marL="0" lvl="1" indent="0">
              <a:buFont typeface="Arial" panose="020B0604020202020204" pitchFamily="34" charset="0"/>
              <a:buNone/>
            </a:pPr>
            <a:r>
              <a:t>Teams analyze failures to find defects and use mocks for rapid debugging of lower-level issues.</a:t>
            </a:r>
            <a:endParaRPr lang="en-US"/>
          </a:p>
          <a:p>
            <a:pPr marL="0" indent="0">
              <a:spcBef>
                <a:spcPts val="2500"/>
              </a:spcBef>
              <a:buFont typeface="Arial" panose="020B0604020202020204" pitchFamily="34" charset="0"/>
              <a:buNone/>
            </a:pPr>
            <a:r>
              <a:rPr lang="en-US" b="1"/>
              <a:t>Test Maintenance</a:t>
            </a:r>
          </a:p>
          <a:p>
            <a:pPr marL="0" lvl="1" indent="0">
              <a:buFont typeface="Arial" panose="020B0604020202020204" pitchFamily="34" charset="0"/>
              <a:buNone/>
            </a:pPr>
            <a:r>
              <a:t>Focuses on stabilizing tests and updating data or flows for broader test coverage and fast feedback.</a:t>
            </a:r>
            <a:endParaRPr lang="en-US"/>
          </a:p>
        </p:txBody>
      </p:sp>
    </p:spTree>
    <p:extLst>
      <p:ext uri="{BB962C8B-B14F-4D97-AF65-F5344CB8AC3E}">
        <p14:creationId xmlns:p14="http://schemas.microsoft.com/office/powerpoint/2010/main" val="25148761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26806-05EE-7DC1-B9D2-8F4F1698E63A}"/>
              </a:ext>
            </a:extLst>
          </p:cNvPr>
          <p:cNvSpPr>
            <a:spLocks noGrp="1"/>
          </p:cNvSpPr>
          <p:nvPr>
            <p:ph type="ctrTitle"/>
          </p:nvPr>
        </p:nvSpPr>
        <p:spPr>
          <a:xfrm>
            <a:off x="992091" y="2514602"/>
            <a:ext cx="6812280" cy="3194302"/>
          </a:xfrm>
        </p:spPr>
        <p:txBody>
          <a:bodyPr anchor="b">
            <a:normAutofit/>
          </a:bodyPr>
          <a:lstStyle/>
          <a:p>
            <a:r>
              <a:rPr lang="en-US"/>
              <a:t>CI/CD Testing Flow</a:t>
            </a:r>
          </a:p>
        </p:txBody>
      </p:sp>
    </p:spTree>
    <p:extLst>
      <p:ext uri="{BB962C8B-B14F-4D97-AF65-F5344CB8AC3E}">
        <p14:creationId xmlns:p14="http://schemas.microsoft.com/office/powerpoint/2010/main" val="1881829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29ED-B06B-8B98-CC64-ADEF3DE3465D}"/>
              </a:ext>
            </a:extLst>
          </p:cNvPr>
          <p:cNvSpPr>
            <a:spLocks noGrp="1"/>
          </p:cNvSpPr>
          <p:nvPr>
            <p:ph type="title"/>
          </p:nvPr>
        </p:nvSpPr>
        <p:spPr>
          <a:xfrm>
            <a:off x="612648" y="819477"/>
            <a:ext cx="4617720" cy="1197864"/>
          </a:xfrm>
        </p:spPr>
        <p:txBody>
          <a:bodyPr anchor="t">
            <a:normAutofit/>
          </a:bodyPr>
          <a:lstStyle/>
          <a:p>
            <a:r>
              <a:rPr lang="en-US"/>
              <a:t>Continuous Delivery Quality Gates</a:t>
            </a:r>
          </a:p>
        </p:txBody>
      </p:sp>
      <p:pic>
        <p:nvPicPr>
          <p:cNvPr id="5" name="Content Placeholder 4" descr="Shiny pyramid greenhouse sustainable growth and finance concept">
            <a:extLst>
              <a:ext uri="{FF2B5EF4-FFF2-40B4-BE49-F238E27FC236}">
                <a16:creationId xmlns:a16="http://schemas.microsoft.com/office/drawing/2014/main" id="{204D4DEA-37C7-4DFC-83A6-A48909B52647}"/>
              </a:ext>
            </a:extLst>
          </p:cNvPr>
          <p:cNvPicPr>
            <a:picLocks noGrp="1" noChangeAspect="1"/>
          </p:cNvPicPr>
          <p:nvPr>
            <p:ph type="pic" sz="quarter" idx="18"/>
          </p:nvPr>
        </p:nvPicPr>
        <p:blipFill>
          <a:blip r:embed="rId3"/>
          <a:srcRect l="31069" r="2182" b="1"/>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D01C98DC-905D-C779-0973-656A1858DAF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Early Stage Testing</a:t>
            </a:r>
          </a:p>
          <a:p>
            <a:pPr marL="0" lvl="1" indent="0">
              <a:buFont typeface="Arial" panose="020B0604020202020204" pitchFamily="34" charset="0"/>
              <a:buNone/>
            </a:pPr>
            <a:r>
              <a:t>Feature branch testing includes unit, API, and component tests for quick validation of new code.</a:t>
            </a:r>
            <a:endParaRPr lang="en-US"/>
          </a:p>
          <a:p>
            <a:pPr marL="0" indent="0">
              <a:spcBef>
                <a:spcPts val="2500"/>
              </a:spcBef>
              <a:buFont typeface="Arial" panose="020B0604020202020204" pitchFamily="34" charset="0"/>
              <a:buNone/>
            </a:pPr>
            <a:r>
              <a:rPr lang="en-US" b="1"/>
              <a:t>Integration and Preview Testing</a:t>
            </a:r>
          </a:p>
          <a:p>
            <a:pPr marL="0" lvl="1" indent="0">
              <a:buFont typeface="Arial" panose="020B0604020202020204" pitchFamily="34" charset="0"/>
              <a:buNone/>
            </a:pPr>
            <a:r>
              <a:t>Preview environments allow integration tests using mocked services and light UI flow validations.</a:t>
            </a:r>
            <a:endParaRPr lang="en-US"/>
          </a:p>
          <a:p>
            <a:pPr marL="0" indent="0">
              <a:spcBef>
                <a:spcPts val="2500"/>
              </a:spcBef>
              <a:buFont typeface="Arial" panose="020B0604020202020204" pitchFamily="34" charset="0"/>
              <a:buNone/>
            </a:pPr>
            <a:r>
              <a:rPr lang="en-US" b="1"/>
              <a:t>Regression and Synchronization Tests</a:t>
            </a:r>
          </a:p>
          <a:p>
            <a:pPr marL="0" lvl="1" indent="0">
              <a:buFont typeface="Arial" panose="020B0604020202020204" pitchFamily="34" charset="0"/>
              <a:buNone/>
            </a:pPr>
            <a:r>
              <a:t>Stage branch triggers broad regression testing and inventory synchronization for system consistency.</a:t>
            </a:r>
            <a:endParaRPr lang="en-US"/>
          </a:p>
          <a:p>
            <a:pPr marL="0" indent="0">
              <a:spcBef>
                <a:spcPts val="2500"/>
              </a:spcBef>
              <a:buFont typeface="Arial" panose="020B0604020202020204" pitchFamily="34" charset="0"/>
              <a:buNone/>
            </a:pPr>
            <a:r>
              <a:rPr lang="en-US" b="1"/>
              <a:t>Final Validation and Deployment</a:t>
            </a:r>
          </a:p>
          <a:p>
            <a:pPr marL="0" lvl="1" indent="0">
              <a:buFont typeface="Arial" panose="020B0604020202020204" pitchFamily="34" charset="0"/>
              <a:buNone/>
            </a:pPr>
            <a:r>
              <a:t>Telemetry-based health checks in main branch ensure system stability before final production deployment.</a:t>
            </a:r>
            <a:endParaRPr lang="en-US"/>
          </a:p>
        </p:txBody>
      </p:sp>
    </p:spTree>
    <p:extLst>
      <p:ext uri="{BB962C8B-B14F-4D97-AF65-F5344CB8AC3E}">
        <p14:creationId xmlns:p14="http://schemas.microsoft.com/office/powerpoint/2010/main" val="11504556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B2D0-C57E-F905-AAB9-084B6377BBC4}"/>
              </a:ext>
            </a:extLst>
          </p:cNvPr>
          <p:cNvSpPr>
            <a:spLocks noGrp="1"/>
          </p:cNvSpPr>
          <p:nvPr>
            <p:ph type="ctrTitle"/>
          </p:nvPr>
        </p:nvSpPr>
        <p:spPr>
          <a:xfrm>
            <a:off x="992091" y="2514602"/>
            <a:ext cx="6812280" cy="3194302"/>
          </a:xfrm>
        </p:spPr>
        <p:txBody>
          <a:bodyPr anchor="b">
            <a:normAutofit/>
          </a:bodyPr>
          <a:lstStyle/>
          <a:p>
            <a:r>
              <a:rPr lang="en-US"/>
              <a:t>Delivery Approach</a:t>
            </a:r>
          </a:p>
        </p:txBody>
      </p:sp>
    </p:spTree>
    <p:extLst>
      <p:ext uri="{BB962C8B-B14F-4D97-AF65-F5344CB8AC3E}">
        <p14:creationId xmlns:p14="http://schemas.microsoft.com/office/powerpoint/2010/main" val="2685153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EEF45-D75F-16DD-C1E4-3F973C66BD44}"/>
              </a:ext>
            </a:extLst>
          </p:cNvPr>
          <p:cNvSpPr>
            <a:spLocks noGrp="1"/>
          </p:cNvSpPr>
          <p:nvPr>
            <p:ph type="title"/>
          </p:nvPr>
        </p:nvSpPr>
        <p:spPr>
          <a:xfrm>
            <a:off x="612648" y="819477"/>
            <a:ext cx="4617720" cy="1197864"/>
          </a:xfrm>
        </p:spPr>
        <p:txBody>
          <a:bodyPr anchor="t">
            <a:normAutofit/>
          </a:bodyPr>
          <a:lstStyle/>
          <a:p>
            <a:r>
              <a:rPr lang="en-US"/>
              <a:t>Delivery Flow</a:t>
            </a:r>
          </a:p>
        </p:txBody>
      </p:sp>
      <p:pic>
        <p:nvPicPr>
          <p:cNvPr id="5" name="Content Placeholder 4" descr="People at the meeting desk">
            <a:extLst>
              <a:ext uri="{FF2B5EF4-FFF2-40B4-BE49-F238E27FC236}">
                <a16:creationId xmlns:a16="http://schemas.microsoft.com/office/drawing/2014/main" id="{244918B6-84B0-49F0-B31B-B7ABC1D4F20A}"/>
              </a:ext>
            </a:extLst>
          </p:cNvPr>
          <p:cNvPicPr>
            <a:picLocks noGrp="1" noChangeAspect="1"/>
          </p:cNvPicPr>
          <p:nvPr>
            <p:ph type="pic" sz="quarter" idx="18"/>
          </p:nvPr>
        </p:nvPicPr>
        <p:blipFill>
          <a:blip r:embed="rId3"/>
          <a:srcRect l="17867" r="25881" b="-2"/>
          <a:stretch>
            <a:fillRect/>
          </a:stretch>
        </p:blipFill>
        <p:spPr>
          <a:xfrm>
            <a:off x="950976" y="2148840"/>
            <a:ext cx="3877056" cy="3877056"/>
          </a:xfrm>
        </p:spPr>
      </p:pic>
      <p:sp>
        <p:nvSpPr>
          <p:cNvPr id="4" name="Content Placeholder 3">
            <a:extLst>
              <a:ext uri="{FF2B5EF4-FFF2-40B4-BE49-F238E27FC236}">
                <a16:creationId xmlns:a16="http://schemas.microsoft.com/office/drawing/2014/main" id="{5688A975-8008-5006-B04B-3F6B9B7455E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Collaborative Requirement Refinement</a:t>
            </a:r>
          </a:p>
          <a:p>
            <a:pPr marL="0" lvl="1" indent="0">
              <a:buFont typeface="Arial" panose="020B0604020202020204" pitchFamily="34" charset="0"/>
              <a:buNone/>
            </a:pPr>
            <a:r>
              <a:t>QA, developers, and product owners collaborate to identify risks in pricing, compatibility, payment, and inventory updates.</a:t>
            </a:r>
            <a:endParaRPr lang="en-US"/>
          </a:p>
          <a:p>
            <a:pPr marL="0" indent="0">
              <a:spcBef>
                <a:spcPts val="2500"/>
              </a:spcBef>
              <a:buFont typeface="Arial" panose="020B0604020202020204" pitchFamily="34" charset="0"/>
              <a:buNone/>
            </a:pPr>
            <a:r>
              <a:rPr lang="en-US" b="1"/>
              <a:t>Incremental Development and Testing</a:t>
            </a:r>
          </a:p>
          <a:p>
            <a:pPr marL="0" lvl="1" indent="0">
              <a:buFont typeface="Arial" panose="020B0604020202020204" pitchFamily="34" charset="0"/>
              <a:buNone/>
            </a:pPr>
            <a:r>
              <a:t>Development advances in small slices with unit and API tests, while SDETs create higher-level automated test scenarios.</a:t>
            </a:r>
            <a:endParaRPr lang="en-US"/>
          </a:p>
          <a:p>
            <a:pPr marL="0" indent="0">
              <a:spcBef>
                <a:spcPts val="2500"/>
              </a:spcBef>
              <a:buFont typeface="Arial" panose="020B0604020202020204" pitchFamily="34" charset="0"/>
              <a:buNone/>
            </a:pPr>
            <a:r>
              <a:rPr lang="en-US" b="1"/>
              <a:t>Preview and Staging Validation</a:t>
            </a:r>
          </a:p>
          <a:p>
            <a:pPr marL="0" lvl="1" indent="0">
              <a:buFont typeface="Arial" panose="020B0604020202020204" pitchFamily="34" charset="0"/>
              <a:buNone/>
            </a:pPr>
            <a:r>
              <a:t>Preview deployments validate mocked integrations before staging, which performs full regression and end-to-end validation of rule-engine workflows.</a:t>
            </a:r>
            <a:endParaRPr lang="en-US"/>
          </a:p>
          <a:p>
            <a:pPr marL="0" indent="0">
              <a:spcBef>
                <a:spcPts val="2500"/>
              </a:spcBef>
              <a:buFont typeface="Arial" panose="020B0604020202020204" pitchFamily="34" charset="0"/>
              <a:buNone/>
            </a:pPr>
            <a:r>
              <a:rPr lang="en-US" b="1"/>
              <a:t>Release and Telemetry Review</a:t>
            </a:r>
          </a:p>
          <a:p>
            <a:pPr marL="0" lvl="1" indent="0">
              <a:buFont typeface="Arial" panose="020B0604020202020204" pitchFamily="34" charset="0"/>
              <a:buNone/>
            </a:pPr>
            <a:r>
              <a:t>Critical issues can block deployment; post-release telemetry is reviewed in production-readonly environments to ensure value flow.</a:t>
            </a:r>
            <a:endParaRPr lang="en-US"/>
          </a:p>
        </p:txBody>
      </p:sp>
    </p:spTree>
    <p:extLst>
      <p:ext uri="{BB962C8B-B14F-4D97-AF65-F5344CB8AC3E}">
        <p14:creationId xmlns:p14="http://schemas.microsoft.com/office/powerpoint/2010/main" val="34733031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FDB26-3DDA-1230-CD90-871F54806E2E}"/>
              </a:ext>
            </a:extLst>
          </p:cNvPr>
          <p:cNvSpPr>
            <a:spLocks noGrp="1"/>
          </p:cNvSpPr>
          <p:nvPr>
            <p:ph type="ctrTitle"/>
          </p:nvPr>
        </p:nvSpPr>
        <p:spPr>
          <a:xfrm>
            <a:off x="992091" y="2514602"/>
            <a:ext cx="6812280" cy="3194302"/>
          </a:xfrm>
        </p:spPr>
        <p:txBody>
          <a:bodyPr anchor="b">
            <a:normAutofit/>
          </a:bodyPr>
          <a:lstStyle/>
          <a:p>
            <a:r>
              <a:rPr lang="en-US"/>
              <a:t>Bug Management</a:t>
            </a:r>
          </a:p>
        </p:txBody>
      </p:sp>
    </p:spTree>
    <p:extLst>
      <p:ext uri="{BB962C8B-B14F-4D97-AF65-F5344CB8AC3E}">
        <p14:creationId xmlns:p14="http://schemas.microsoft.com/office/powerpoint/2010/main" val="4091985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68022-F732-C472-8ED8-3DA79BA2321B}"/>
              </a:ext>
            </a:extLst>
          </p:cNvPr>
          <p:cNvSpPr>
            <a:spLocks noGrp="1"/>
          </p:cNvSpPr>
          <p:nvPr>
            <p:ph type="title"/>
          </p:nvPr>
        </p:nvSpPr>
        <p:spPr>
          <a:xfrm>
            <a:off x="3044952" y="581182"/>
            <a:ext cx="6108192" cy="548730"/>
          </a:xfrm>
        </p:spPr>
        <p:txBody>
          <a:bodyPr anchor="b">
            <a:normAutofit fontScale="90000"/>
          </a:bodyPr>
          <a:lstStyle/>
          <a:p>
            <a:r>
              <a:rPr lang="en-US"/>
              <a:t>Bug Workflow Diagram</a:t>
            </a:r>
          </a:p>
        </p:txBody>
      </p:sp>
      <p:graphicFrame>
        <p:nvGraphicFramePr>
          <p:cNvPr id="5" name="Content Placeholder 4">
            <a:extLst>
              <a:ext uri="{FF2B5EF4-FFF2-40B4-BE49-F238E27FC236}">
                <a16:creationId xmlns:a16="http://schemas.microsoft.com/office/drawing/2014/main" id="{4EB6AD79-4F1A-4C62-B143-76F39E2310FE}"/>
              </a:ext>
            </a:extLst>
          </p:cNvPr>
          <p:cNvGraphicFramePr>
            <a:graphicFrameLocks noGrp="1"/>
          </p:cNvGraphicFramePr>
          <p:nvPr>
            <p:ph sz="quarter" idx="17"/>
            <p:extLst>
              <p:ext uri="{D42A27DB-BD31-4B8C-83A1-F6EECF244321}">
                <p14:modId xmlns:p14="http://schemas.microsoft.com/office/powerpoint/2010/main" val="2080248455"/>
              </p:ext>
            </p:extLst>
          </p:nvPr>
        </p:nvGraphicFramePr>
        <p:xfrm>
          <a:off x="1311088" y="1669676"/>
          <a:ext cx="9642720" cy="3851558"/>
        </p:xfrm>
        <a:graphic>
          <a:graphicData uri="http://schemas.openxmlformats.org/drawingml/2006/table">
            <a:tbl>
              <a:tblPr firstRow="1" bandRow="1">
                <a:noFill/>
                <a:tableStyleId>{5C22544A-7EE6-4342-B048-85BDC9FD1C3A}</a:tableStyleId>
              </a:tblPr>
              <a:tblGrid>
                <a:gridCol w="4740314">
                  <a:extLst>
                    <a:ext uri="{9D8B030D-6E8A-4147-A177-3AD203B41FA5}">
                      <a16:colId xmlns:a16="http://schemas.microsoft.com/office/drawing/2014/main" val="3250168156"/>
                    </a:ext>
                  </a:extLst>
                </a:gridCol>
                <a:gridCol w="4902406">
                  <a:extLst>
                    <a:ext uri="{9D8B030D-6E8A-4147-A177-3AD203B41FA5}">
                      <a16:colId xmlns:a16="http://schemas.microsoft.com/office/drawing/2014/main" val="2433686908"/>
                    </a:ext>
                  </a:extLst>
                </a:gridCol>
              </a:tblGrid>
              <a:tr h="573638">
                <a:tc>
                  <a:txBody>
                    <a:bodyPr/>
                    <a:lstStyle/>
                    <a:p>
                      <a:pPr>
                        <a:buNone/>
                      </a:pPr>
                      <a:r>
                        <a:rPr lang="en-US" sz="1600" b="1" cap="all" spc="150">
                          <a:solidFill>
                            <a:schemeClr val="tx1"/>
                          </a:solidFill>
                        </a:rPr>
                        <a:t>Step</a:t>
                      </a:r>
                    </a:p>
                  </a:txBody>
                  <a:tcPr marL="65344" marR="65344" marT="65344" marB="65344"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600" b="1" cap="all" spc="150">
                          <a:solidFill>
                            <a:schemeClr val="tx1"/>
                          </a:solidFill>
                        </a:rPr>
                        <a:t>Description</a:t>
                      </a:r>
                    </a:p>
                  </a:txBody>
                  <a:tcPr marL="65344" marR="65344" marT="65344" marB="65344"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627144305"/>
                  </a:ext>
                </a:extLst>
              </a:tr>
              <a:tr h="546320">
                <a:tc>
                  <a:txBody>
                    <a:bodyPr/>
                    <a:lstStyle/>
                    <a:p>
                      <a:pPr>
                        <a:buNone/>
                      </a:pPr>
                      <a:r>
                        <a:rPr lang="en-US" sz="1600" b="1" cap="none" spc="0">
                          <a:solidFill>
                            <a:schemeClr val="tx1"/>
                          </a:solidFill>
                        </a:rPr>
                        <a:t>Bug Reported</a:t>
                      </a:r>
                    </a:p>
                  </a:txBody>
                  <a:tcPr marL="65344" marR="65344" marT="65344" marB="65344"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Initial capture of functional or integration defects</a:t>
                      </a:r>
                    </a:p>
                  </a:txBody>
                  <a:tcPr marL="65344" marR="65344" marT="65344" marB="65344"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3940672283"/>
                  </a:ext>
                </a:extLst>
              </a:tr>
              <a:tr h="546320">
                <a:tc>
                  <a:txBody>
                    <a:bodyPr/>
                    <a:lstStyle/>
                    <a:p>
                      <a:pPr>
                        <a:buNone/>
                      </a:pPr>
                      <a:r>
                        <a:rPr lang="en-US" sz="1600" b="1" cap="none" spc="0">
                          <a:solidFill>
                            <a:schemeClr val="tx1"/>
                          </a:solidFill>
                        </a:rPr>
                        <a:t>Triage</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QA and PO assess severity and risk relevance</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010097117"/>
                  </a:ext>
                </a:extLst>
              </a:tr>
              <a:tr h="546320">
                <a:tc>
                  <a:txBody>
                    <a:bodyPr/>
                    <a:lstStyle/>
                    <a:p>
                      <a:pPr>
                        <a:buNone/>
                      </a:pPr>
                      <a:r>
                        <a:rPr lang="en-US" sz="1600" b="1" cap="none" spc="0">
                          <a:solidFill>
                            <a:schemeClr val="tx1"/>
                          </a:solidFill>
                        </a:rPr>
                        <a:t>Fix</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Developer resolves validated defects</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614979295"/>
                  </a:ext>
                </a:extLst>
              </a:tr>
              <a:tr h="546320">
                <a:tc>
                  <a:txBody>
                    <a:bodyPr/>
                    <a:lstStyle/>
                    <a:p>
                      <a:pPr>
                        <a:buNone/>
                      </a:pPr>
                      <a:r>
                        <a:rPr lang="en-US" sz="1600" b="1" cap="none" spc="0">
                          <a:solidFill>
                            <a:schemeClr val="tx1"/>
                          </a:solidFill>
                        </a:rPr>
                        <a:t>Verification</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QA/SDET confirm issue resolution</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761135895"/>
                  </a:ext>
                </a:extLst>
              </a:tr>
              <a:tr h="546320">
                <a:tc>
                  <a:txBody>
                    <a:bodyPr/>
                    <a:lstStyle/>
                    <a:p>
                      <a:pPr>
                        <a:buNone/>
                      </a:pPr>
                      <a:r>
                        <a:rPr lang="en-US" sz="1600" b="1" cap="none" spc="0">
                          <a:solidFill>
                            <a:schemeClr val="tx1"/>
                          </a:solidFill>
                        </a:rPr>
                        <a:t>Promote to Stage</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Validated code progresses to staging environment</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56287304"/>
                  </a:ext>
                </a:extLst>
              </a:tr>
              <a:tr h="546320">
                <a:tc>
                  <a:txBody>
                    <a:bodyPr/>
                    <a:lstStyle/>
                    <a:p>
                      <a:pPr>
                        <a:buNone/>
                      </a:pPr>
                      <a:r>
                        <a:rPr lang="en-US" sz="1600" b="1" cap="none" spc="0">
                          <a:solidFill>
                            <a:schemeClr val="tx1"/>
                          </a:solidFill>
                        </a:rPr>
                        <a:t>Release Decision</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600" b="0" cap="none" spc="0">
                          <a:solidFill>
                            <a:schemeClr val="tx1"/>
                          </a:solidFill>
                        </a:rPr>
                        <a:t>PO and QA determine release readiness</a:t>
                      </a:r>
                    </a:p>
                  </a:txBody>
                  <a:tcPr marL="65344" marR="65344" marT="65344" marB="65344"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3998539355"/>
                  </a:ext>
                </a:extLst>
              </a:tr>
            </a:tbl>
          </a:graphicData>
        </a:graphic>
      </p:graphicFrame>
    </p:spTree>
    <p:extLst>
      <p:ext uri="{BB962C8B-B14F-4D97-AF65-F5344CB8AC3E}">
        <p14:creationId xmlns:p14="http://schemas.microsoft.com/office/powerpoint/2010/main" val="331175883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3ABBF-26FF-73DA-EAA2-5025BD98EBE6}"/>
              </a:ext>
            </a:extLst>
          </p:cNvPr>
          <p:cNvSpPr>
            <a:spLocks noGrp="1"/>
          </p:cNvSpPr>
          <p:nvPr>
            <p:ph type="ctrTitle"/>
          </p:nvPr>
        </p:nvSpPr>
        <p:spPr>
          <a:xfrm>
            <a:off x="992091" y="2514602"/>
            <a:ext cx="6812280" cy="3194302"/>
          </a:xfrm>
        </p:spPr>
        <p:txBody>
          <a:bodyPr anchor="b">
            <a:normAutofit/>
          </a:bodyPr>
          <a:lstStyle/>
          <a:p>
            <a:r>
              <a:rPr lang="en-US"/>
              <a:t>Definition of Done</a:t>
            </a:r>
          </a:p>
        </p:txBody>
      </p:sp>
    </p:spTree>
    <p:extLst>
      <p:ext uri="{BB962C8B-B14F-4D97-AF65-F5344CB8AC3E}">
        <p14:creationId xmlns:p14="http://schemas.microsoft.com/office/powerpoint/2010/main" val="3916300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3DB06-DA16-9AFB-9C69-CFAFF993BA52}"/>
              </a:ext>
            </a:extLst>
          </p:cNvPr>
          <p:cNvSpPr>
            <a:spLocks noGrp="1"/>
          </p:cNvSpPr>
          <p:nvPr>
            <p:ph type="title"/>
          </p:nvPr>
        </p:nvSpPr>
        <p:spPr>
          <a:xfrm>
            <a:off x="7569582" y="758952"/>
            <a:ext cx="3842130" cy="1143000"/>
          </a:xfrm>
        </p:spPr>
        <p:txBody>
          <a:bodyPr anchor="b">
            <a:normAutofit/>
          </a:bodyPr>
          <a:lstStyle/>
          <a:p>
            <a:r>
              <a:rPr lang="en-US"/>
              <a:t>Quality Criteria Diagram</a:t>
            </a:r>
          </a:p>
        </p:txBody>
      </p:sp>
      <p:pic>
        <p:nvPicPr>
          <p:cNvPr id="5" name="Content Placeholder 4" descr="Quality digital concept">
            <a:extLst>
              <a:ext uri="{FF2B5EF4-FFF2-40B4-BE49-F238E27FC236}">
                <a16:creationId xmlns:a16="http://schemas.microsoft.com/office/drawing/2014/main" id="{3EA6C1C5-74B5-4265-BBC9-6046CCAC8C63}"/>
              </a:ext>
            </a:extLst>
          </p:cNvPr>
          <p:cNvPicPr>
            <a:picLocks noGrp="1" noChangeAspect="1"/>
          </p:cNvPicPr>
          <p:nvPr>
            <p:ph type="pic" sz="quarter" idx="18"/>
          </p:nvPr>
        </p:nvPicPr>
        <p:blipFill>
          <a:blip r:embed="rId3"/>
          <a:srcRect l="9263" r="15987"/>
          <a:stretch>
            <a:fillRect/>
          </a:stretch>
        </p:blipFill>
        <p:spPr>
          <a:xfrm>
            <a:off x="-1" y="10"/>
            <a:ext cx="6835155" cy="6857989"/>
          </a:xfrm>
        </p:spPr>
      </p:pic>
      <p:sp>
        <p:nvSpPr>
          <p:cNvPr id="4" name="Content Placeholder 3">
            <a:extLst>
              <a:ext uri="{FF2B5EF4-FFF2-40B4-BE49-F238E27FC236}">
                <a16:creationId xmlns:a16="http://schemas.microsoft.com/office/drawing/2014/main" id="{DCCC413A-CBC3-29BB-ADD3-94AE89A21B0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69582" y="2258568"/>
            <a:ext cx="3700397" cy="3840480"/>
          </a:xfrm>
        </p:spPr>
        <p:txBody>
          <a:bodyPr>
            <a:normAutofit/>
          </a:bodyPr>
          <a:lstStyle/>
          <a:p>
            <a:pPr marL="0" indent="0">
              <a:lnSpc>
                <a:spcPct val="120000"/>
              </a:lnSpc>
              <a:spcBef>
                <a:spcPts val="2500"/>
              </a:spcBef>
              <a:buFont typeface="Arial" panose="020B0604020202020204" pitchFamily="34" charset="0"/>
              <a:buNone/>
            </a:pPr>
            <a:r>
              <a:rPr lang="en-US" sz="1200" b="1"/>
              <a:t>Pricing and Claims Correctness</a:t>
            </a:r>
          </a:p>
          <a:p>
            <a:pPr marL="0" lvl="1" indent="0">
              <a:lnSpc>
                <a:spcPct val="120000"/>
              </a:lnSpc>
              <a:buFont typeface="Arial" panose="020B0604020202020204" pitchFamily="34" charset="0"/>
              <a:buNone/>
            </a:pPr>
            <a:r>
              <a:rPr lang="en-US" sz="1200"/>
              <a:t>Pricing and claims logic is validated with unit and integration tests ensuring accurate and consistent results.</a:t>
            </a:r>
          </a:p>
          <a:p>
            <a:pPr marL="0" indent="0">
              <a:lnSpc>
                <a:spcPct val="120000"/>
              </a:lnSpc>
              <a:spcBef>
                <a:spcPts val="2500"/>
              </a:spcBef>
              <a:buFont typeface="Arial" panose="020B0604020202020204" pitchFamily="34" charset="0"/>
              <a:buNone/>
            </a:pPr>
            <a:r>
              <a:rPr lang="en-US" sz="1200" b="1"/>
              <a:t>Partner API Stability</a:t>
            </a:r>
          </a:p>
          <a:p>
            <a:pPr marL="0" lvl="1" indent="0">
              <a:lnSpc>
                <a:spcPct val="120000"/>
              </a:lnSpc>
              <a:buFont typeface="Arial" panose="020B0604020202020204" pitchFamily="34" charset="0"/>
              <a:buNone/>
            </a:pPr>
            <a:r>
              <a:rPr lang="en-US" sz="1200"/>
              <a:t>Partner API interactions must be stable and adhere strictly to contract requirements to maintain integration reliability.</a:t>
            </a:r>
          </a:p>
          <a:p>
            <a:pPr marL="0" indent="0">
              <a:lnSpc>
                <a:spcPct val="120000"/>
              </a:lnSpc>
              <a:spcBef>
                <a:spcPts val="2500"/>
              </a:spcBef>
              <a:buFont typeface="Arial" panose="020B0604020202020204" pitchFamily="34" charset="0"/>
              <a:buNone/>
            </a:pPr>
            <a:r>
              <a:rPr lang="en-US" sz="1200" b="1"/>
              <a:t>Overall Quality Gates</a:t>
            </a:r>
          </a:p>
          <a:p>
            <a:pPr marL="0" lvl="1" indent="0">
              <a:lnSpc>
                <a:spcPct val="120000"/>
              </a:lnSpc>
              <a:buFont typeface="Arial" panose="020B0604020202020204" pitchFamily="34" charset="0"/>
              <a:buNone/>
            </a:pPr>
            <a:r>
              <a:rPr lang="en-US" sz="1200"/>
              <a:t>Automated quality gates, observability instrumentation, and user experience reviews ensure production readiness and timely deployment.</a:t>
            </a:r>
          </a:p>
        </p:txBody>
      </p:sp>
    </p:spTree>
    <p:extLst>
      <p:ext uri="{BB962C8B-B14F-4D97-AF65-F5344CB8AC3E}">
        <p14:creationId xmlns:p14="http://schemas.microsoft.com/office/powerpoint/2010/main" val="37114992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B9B49-B596-5AF0-EB13-6E5856343F51}"/>
              </a:ext>
            </a:extLst>
          </p:cNvPr>
          <p:cNvSpPr>
            <a:spLocks noGrp="1"/>
          </p:cNvSpPr>
          <p:nvPr>
            <p:ph type="ctrTitle"/>
          </p:nvPr>
        </p:nvSpPr>
        <p:spPr>
          <a:xfrm>
            <a:off x="992091" y="2514602"/>
            <a:ext cx="6812280" cy="3194302"/>
          </a:xfrm>
        </p:spPr>
        <p:txBody>
          <a:bodyPr anchor="b">
            <a:normAutofit/>
          </a:bodyPr>
          <a:lstStyle/>
          <a:p>
            <a:r>
              <a:rPr lang="en-US"/>
              <a:t>Metrics</a:t>
            </a:r>
          </a:p>
        </p:txBody>
      </p:sp>
    </p:spTree>
    <p:extLst>
      <p:ext uri="{BB962C8B-B14F-4D97-AF65-F5344CB8AC3E}">
        <p14:creationId xmlns:p14="http://schemas.microsoft.com/office/powerpoint/2010/main" val="18697811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FF148-117E-13AD-00B3-7745837085AC}"/>
              </a:ext>
            </a:extLst>
          </p:cNvPr>
          <p:cNvSpPr>
            <a:spLocks noGrp="1"/>
          </p:cNvSpPr>
          <p:nvPr>
            <p:ph type="title"/>
          </p:nvPr>
        </p:nvSpPr>
        <p:spPr>
          <a:xfrm>
            <a:off x="4782312" y="603504"/>
            <a:ext cx="6464808" cy="1307592"/>
          </a:xfrm>
        </p:spPr>
        <p:txBody>
          <a:bodyPr anchor="b">
            <a:normAutofit/>
          </a:bodyPr>
          <a:lstStyle/>
          <a:p>
            <a:r>
              <a:rPr lang="en-US"/>
              <a:t>Testing &amp; Quality Metrics</a:t>
            </a:r>
          </a:p>
        </p:txBody>
      </p:sp>
      <p:pic>
        <p:nvPicPr>
          <p:cNvPr id="5" name="Content Placeholder 4" descr="http://teekid.com/istockphoto/banner/banner3.jpg">
            <a:extLst>
              <a:ext uri="{FF2B5EF4-FFF2-40B4-BE49-F238E27FC236}">
                <a16:creationId xmlns:a16="http://schemas.microsoft.com/office/drawing/2014/main" id="{CAD844DE-B549-4A38-9514-9B24E23E9625}"/>
              </a:ext>
            </a:extLst>
          </p:cNvPr>
          <p:cNvPicPr>
            <a:picLocks noGrp="1" noChangeAspect="1"/>
          </p:cNvPicPr>
          <p:nvPr>
            <p:ph type="pic" sz="quarter" idx="18"/>
          </p:nvPr>
        </p:nvPicPr>
        <p:blipFill>
          <a:blip r:embed="rId3"/>
          <a:srcRect l="29800" r="11134"/>
          <a:stretch>
            <a:fillRect/>
          </a:stretch>
        </p:blipFill>
        <p:spPr>
          <a:xfrm>
            <a:off x="20" y="10"/>
            <a:ext cx="4050772" cy="6857990"/>
          </a:xfrm>
        </p:spPr>
      </p:pic>
      <p:sp>
        <p:nvSpPr>
          <p:cNvPr id="4" name="Content Placeholder 3">
            <a:extLst>
              <a:ext uri="{FF2B5EF4-FFF2-40B4-BE49-F238E27FC236}">
                <a16:creationId xmlns:a16="http://schemas.microsoft.com/office/drawing/2014/main" id="{C74BA443-3766-94C3-6B74-34E9EEF7A32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82312" y="2258568"/>
            <a:ext cx="6464808" cy="3995928"/>
          </a:xfrm>
        </p:spPr>
        <p:txBody>
          <a:bodyPr>
            <a:normAutofit/>
          </a:bodyPr>
          <a:lstStyle/>
          <a:p>
            <a:pPr marL="0" indent="0">
              <a:spcBef>
                <a:spcPts val="2500"/>
              </a:spcBef>
              <a:buFont typeface="Arial" panose="020B0604020202020204" pitchFamily="34" charset="0"/>
              <a:buNone/>
            </a:pPr>
            <a:r>
              <a:rPr lang="en-US" b="1"/>
              <a:t>Quality Signals Metrics</a:t>
            </a:r>
          </a:p>
          <a:p>
            <a:pPr marL="0" lvl="1" indent="0">
              <a:buFont typeface="Arial" panose="020B0604020202020204" pitchFamily="34" charset="0"/>
              <a:buNone/>
            </a:pPr>
            <a:r>
              <a:t>Track pass rates for pricing and claim tests, API failure rates, defect leakage, and rule-engine errors.</a:t>
            </a:r>
            <a:endParaRPr lang="en-US"/>
          </a:p>
          <a:p>
            <a:pPr marL="0" indent="0">
              <a:spcBef>
                <a:spcPts val="2500"/>
              </a:spcBef>
              <a:buFont typeface="Arial" panose="020B0604020202020204" pitchFamily="34" charset="0"/>
              <a:buNone/>
            </a:pPr>
            <a:r>
              <a:rPr lang="en-US" b="1"/>
              <a:t>Testing Efficiency Metrics</a:t>
            </a:r>
          </a:p>
          <a:p>
            <a:pPr marL="0" lvl="1" indent="0">
              <a:buFont typeface="Arial" panose="020B0604020202020204" pitchFamily="34" charset="0"/>
              <a:buNone/>
            </a:pPr>
            <a:r>
              <a:t>Measure pipeline duration compliance, test flakiness, failure isolation time, and automated coverage of high-risk flows.</a:t>
            </a:r>
            <a:endParaRPr lang="en-US"/>
          </a:p>
          <a:p>
            <a:pPr marL="0" indent="0">
              <a:spcBef>
                <a:spcPts val="2500"/>
              </a:spcBef>
              <a:buFont typeface="Arial" panose="020B0604020202020204" pitchFamily="34" charset="0"/>
              <a:buNone/>
            </a:pPr>
            <a:r>
              <a:rPr lang="en-US" b="1"/>
              <a:t>Production &amp; Regression Metrics</a:t>
            </a:r>
          </a:p>
          <a:p>
            <a:pPr marL="0" lvl="1" indent="0">
              <a:buFont typeface="Arial" panose="020B0604020202020204" pitchFamily="34" charset="0"/>
              <a:buNone/>
            </a:pPr>
            <a:r>
              <a:t>Monitor error rates, incident frequency, staging regression stability, and integration performance via telemetry.</a:t>
            </a:r>
            <a:endParaRPr lang="en-US"/>
          </a:p>
        </p:txBody>
      </p:sp>
    </p:spTree>
    <p:extLst>
      <p:ext uri="{BB962C8B-B14F-4D97-AF65-F5344CB8AC3E}">
        <p14:creationId xmlns:p14="http://schemas.microsoft.com/office/powerpoint/2010/main" val="38060550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183944-B4A3-408F-84AF-B39A80239D4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30244F-B41E-4EF0-A264-C4482E5B0716}">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0898A4A3-E691-488B-80DD-C39460F0CA7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Portal</Template>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Portal</vt:lpstr>
      <vt:lpstr>QA Test Strategy Presentation</vt:lpstr>
      <vt:lpstr>QA Strategy — WHY</vt:lpstr>
      <vt:lpstr>Purpose of QA Strategy</vt:lpstr>
      <vt:lpstr>Test Approach (Principles &amp; Levels)</vt:lpstr>
      <vt:lpstr>Principles</vt:lpstr>
      <vt:lpstr>Test Levels</vt:lpstr>
      <vt:lpstr>Boundaries &amp; Scope</vt:lpstr>
      <vt:lpstr>Test Object Boundaries</vt:lpstr>
      <vt:lpstr>Test Lifecycle</vt:lpstr>
      <vt:lpstr>Lifecycle Overview</vt:lpstr>
      <vt:lpstr>CI/CD Testing Flow</vt:lpstr>
      <vt:lpstr>Continuous Delivery Quality Gates</vt:lpstr>
      <vt:lpstr>Delivery Approach</vt:lpstr>
      <vt:lpstr>Delivery Flow</vt:lpstr>
      <vt:lpstr>Bug Management</vt:lpstr>
      <vt:lpstr>Bug Workflow Diagram</vt:lpstr>
      <vt:lpstr>Definition of Done</vt:lpstr>
      <vt:lpstr>Quality Criteria Diagram</vt:lpstr>
      <vt:lpstr>Metrics</vt:lpstr>
      <vt:lpstr>Testing &amp; Quality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2025-08-21T17:42:37Z</dcterms:created>
  <dcterms:modified xsi:type="dcterms:W3CDTF">2026-03-06T14:02:00Z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